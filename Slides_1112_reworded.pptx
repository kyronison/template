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34.vml" ContentType="application/vnd.openxmlformats-officedocument.vmlDrawing"/>
  <Override PartName="/ppt/drawings/vmlDrawing35.vml" ContentType="application/vnd.openxmlformats-officedocument.vmlDrawing"/>
  <Override PartName="/ppt/drawings/vmlDrawing36.vml" ContentType="application/vnd.openxmlformats-officedocument.vmlDrawing"/>
  <Override PartName="/ppt/drawings/vmlDrawing37.vml" ContentType="application/vnd.openxmlformats-officedocument.vmlDrawing"/>
  <Override PartName="/ppt/drawings/vmlDrawing38.vml" ContentType="application/vnd.openxmlformats-officedocument.vmlDrawing"/>
  <Override PartName="/ppt/drawings/vmlDrawing39.vml" ContentType="application/vnd.openxmlformats-officedocument.vmlDrawing"/>
  <Override PartName="/ppt/drawings/vmlDrawing4.vml" ContentType="application/vnd.openxmlformats-officedocument.vmlDrawing"/>
  <Override PartName="/ppt/drawings/vmlDrawing40.vml" ContentType="application/vnd.openxmlformats-officedocument.vmlDrawing"/>
  <Override PartName="/ppt/drawings/vmlDrawing41.vml" ContentType="application/vnd.openxmlformats-officedocument.vmlDrawing"/>
  <Override PartName="/ppt/drawings/vmlDrawing42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6" r:id="rId2"/>
  </p:sldMasterIdLst>
  <p:notesMasterIdLst>
    <p:notesMasterId r:id="rId5"/>
  </p:notesMasterIdLst>
  <p:handoutMasterIdLst>
    <p:handoutMasterId r:id="rId6"/>
  </p:handoutMasterIdLst>
  <p:sldIdLst>
    <p:sldId id="273" r:id="rId3"/>
    <p:sldId id="303" r:id="rId4"/>
  </p:sldIdLst>
  <p:sldSz cx="12192000" cy="6858000"/>
  <p:notesSz cx="7102475" cy="93884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  <p:cmAuthor id="2" name="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3"/>
    <a:srgbClr val="E2E5E6"/>
    <a:srgbClr val="505759"/>
    <a:srgbClr val="F36D64"/>
    <a:srgbClr val="7E130B"/>
    <a:srgbClr val="370C09"/>
    <a:srgbClr val="D72519"/>
    <a:srgbClr val="C0190E"/>
    <a:srgbClr val="F5F5F5"/>
    <a:srgbClr val="CE2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2448" y="9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-6197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2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07/09/26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331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6.bin"/><Relationship Id="rId11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134.xml"/><Relationship Id="rId3" Type="http://schemas.openxmlformats.org/officeDocument/2006/relationships/tags" Target="../tags/tag135.xml"/><Relationship Id="rId4" Type="http://schemas.openxmlformats.org/officeDocument/2006/relationships/tags" Target="../tags/tag136.xml"/><Relationship Id="rId5" Type="http://schemas.openxmlformats.org/officeDocument/2006/relationships/tags" Target="../tags/tag137.xml"/><Relationship Id="rId6" Type="http://schemas.openxmlformats.org/officeDocument/2006/relationships/tags" Target="../tags/tag13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5.bin"/><Relationship Id="rId8" Type="http://schemas.openxmlformats.org/officeDocument/2006/relationships/image" Target="../media/image4.emf"/><Relationship Id="rId9" Type="http://schemas.openxmlformats.org/officeDocument/2006/relationships/image" Target="../media/image15.jpe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6.bin"/><Relationship Id="rId11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189.xml"/><Relationship Id="rId3" Type="http://schemas.openxmlformats.org/officeDocument/2006/relationships/tags" Target="../tags/tag190.xml"/><Relationship Id="rId4" Type="http://schemas.openxmlformats.org/officeDocument/2006/relationships/tags" Target="../tags/tag191.xml"/><Relationship Id="rId5" Type="http://schemas.openxmlformats.org/officeDocument/2006/relationships/tags" Target="../tags/tag192.xml"/><Relationship Id="rId6" Type="http://schemas.openxmlformats.org/officeDocument/2006/relationships/tags" Target="../tags/tag193.xml"/><Relationship Id="rId7" Type="http://schemas.openxmlformats.org/officeDocument/2006/relationships/tags" Target="../tags/tag19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9.bin"/><Relationship Id="rId10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3.bin"/><Relationship Id="rId11" Type="http://schemas.openxmlformats.org/officeDocument/2006/relationships/image" Target="../media/image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4.v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5.v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6.v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tags" Target="../tags/tag250.xml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Relationship Id="rId8" Type="http://schemas.openxmlformats.org/officeDocument/2006/relationships/tags" Target="../tags/tag254.xml"/><Relationship Id="rId9" Type="http://schemas.openxmlformats.org/officeDocument/2006/relationships/tags" Target="../tags/tag25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7.v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tags" Target="../tags/tag26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8.v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9.vml"/><Relationship Id="rId2" Type="http://schemas.openxmlformats.org/officeDocument/2006/relationships/tags" Target="../tags/tag272.xml"/><Relationship Id="rId3" Type="http://schemas.openxmlformats.org/officeDocument/2006/relationships/tags" Target="../tags/tag273.xml"/><Relationship Id="rId4" Type="http://schemas.openxmlformats.org/officeDocument/2006/relationships/tags" Target="../tags/tag274.xml"/><Relationship Id="rId5" Type="http://schemas.openxmlformats.org/officeDocument/2006/relationships/tags" Target="../tags/tag275.xml"/><Relationship Id="rId6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0.vml"/><Relationship Id="rId2" Type="http://schemas.openxmlformats.org/officeDocument/2006/relationships/tags" Target="../tags/tag27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658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37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7">
            <a:extLst>
              <a:ext uri="{FF2B5EF4-FFF2-40B4-BE49-F238E27FC236}">
                <a16:creationId xmlns:a16="http://schemas.microsoft.com/office/drawing/2014/main" id="{78007B54-D47C-4D63-A37B-ABE8B267525C}"/>
              </a:ext>
            </a:extLst>
          </p:cNvPr>
          <p:cNvGrpSpPr/>
          <p:nvPr/>
        </p:nvGrpSpPr>
        <p:grpSpPr>
          <a:xfrm>
            <a:off x="0" y="3176"/>
            <a:ext cx="12192000" cy="6854824"/>
            <a:chOff x="0" y="0"/>
            <a:chExt cx="12192000" cy="6854824"/>
          </a:xfrm>
        </p:grpSpPr>
        <p:sp>
          <p:nvSpPr>
            <p:cNvPr id="17" name="Прямоугольник 281">
              <a:extLst>
                <a:ext uri="{FF2B5EF4-FFF2-40B4-BE49-F238E27FC236}">
                  <a16:creationId xmlns:a16="http://schemas.microsoft.com/office/drawing/2014/main" id="{7A77853B-1540-4B78-BD38-BFADFF519271}"/>
                </a:ext>
              </a:extLst>
            </p:cNvPr>
            <p:cNvSpPr/>
            <p:nvPr/>
          </p:nvSpPr>
          <p:spPr>
            <a:xfrm flipH="1">
              <a:off x="0" y="0"/>
              <a:ext cx="12192000" cy="6854824"/>
            </a:xfrm>
            <a:prstGeom prst="rect">
              <a:avLst/>
            </a:prstGeom>
            <a:solidFill>
              <a:srgbClr val="F5F5F5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3" name="Прямоугольник 284">
              <a:extLst>
                <a:ext uri="{FF2B5EF4-FFF2-40B4-BE49-F238E27FC236}">
                  <a16:creationId xmlns:a16="http://schemas.microsoft.com/office/drawing/2014/main" id="{9AB43A8C-478D-48B7-86C8-A17B18C925F5}"/>
                </a:ext>
              </a:extLst>
            </p:cNvPr>
            <p:cNvSpPr>
              <a:spLocks/>
            </p:cNvSpPr>
            <p:nvPr/>
          </p:nvSpPr>
          <p:spPr>
            <a:xfrm flipH="1">
              <a:off x="3525520" y="1668802"/>
              <a:ext cx="2214064" cy="5186022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0" scaled="1"/>
              <a:tileRect/>
            </a:gra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707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8A4E52-D9AA-4A7C-9CAC-05A528A5D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0920" t="19524" r="30920" b="22511"/>
          <a:stretch/>
        </p:blipFill>
        <p:spPr>
          <a:xfrm>
            <a:off x="554735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3040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0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170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7883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917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6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2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4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4804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0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3435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09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5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8332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3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638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33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57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C7C2AA7-AFC7-4BD5-97D9-1684BF7828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D6E20-8CB7-4D69-9AE2-6118851811D0}"/>
              </a:ext>
            </a:extLst>
          </p:cNvPr>
          <p:cNvGrpSpPr/>
          <p:nvPr userDrawn="1"/>
        </p:nvGrpSpPr>
        <p:grpSpPr>
          <a:xfrm>
            <a:off x="554735" y="554735"/>
            <a:ext cx="846000" cy="846000"/>
            <a:chOff x="554735" y="554735"/>
            <a:chExt cx="846000" cy="846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23EC816-ED7D-4038-8033-CD413C8B588C}"/>
                </a:ext>
              </a:extLst>
            </p:cNvPr>
            <p:cNvSpPr/>
            <p:nvPr userDrawn="1"/>
          </p:nvSpPr>
          <p:spPr>
            <a:xfrm>
              <a:off x="554735" y="554735"/>
              <a:ext cx="846000" cy="846000"/>
            </a:xfrm>
            <a:prstGeom prst="roundRect">
              <a:avLst>
                <a:gd name="adj" fmla="val 14134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B1E05077-72F5-4A26-B3C8-620255A5B4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0920" t="19524" r="30920" b="22511"/>
            <a:stretch/>
          </p:blipFill>
          <p:spPr>
            <a:xfrm>
              <a:off x="788133" y="689735"/>
              <a:ext cx="379204" cy="576000"/>
            </a:xfrm>
            <a:prstGeom prst="rect">
              <a:avLst/>
            </a:prstGeom>
          </p:spPr>
        </p:pic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B21D232-779B-46AB-AF49-68F17B81B364}"/>
              </a:ext>
            </a:extLst>
          </p:cNvPr>
          <p:cNvSpPr/>
          <p:nvPr userDrawn="1"/>
        </p:nvSpPr>
        <p:spPr>
          <a:xfrm>
            <a:off x="5096395" y="0"/>
            <a:ext cx="1496099" cy="6858000"/>
          </a:xfrm>
          <a:custGeom>
            <a:avLst/>
            <a:gdLst>
              <a:gd name="connsiteX0" fmla="*/ 1496099 w 7095604"/>
              <a:gd name="connsiteY0" fmla="*/ 0 h 6858000"/>
              <a:gd name="connsiteX1" fmla="*/ 7095604 w 7095604"/>
              <a:gd name="connsiteY1" fmla="*/ 0 h 6858000"/>
              <a:gd name="connsiteX2" fmla="*/ 7095604 w 7095604"/>
              <a:gd name="connsiteY2" fmla="*/ 6858000 h 6858000"/>
              <a:gd name="connsiteX3" fmla="*/ 1496099 w 7095604"/>
              <a:gd name="connsiteY3" fmla="*/ 6858000 h 6858000"/>
              <a:gd name="connsiteX4" fmla="*/ 1370893 w 7095604"/>
              <a:gd name="connsiteY4" fmla="*/ 6738628 h 6858000"/>
              <a:gd name="connsiteX5" fmla="*/ 0 w 7095604"/>
              <a:gd name="connsiteY5" fmla="*/ 3429000 h 6858000"/>
              <a:gd name="connsiteX6" fmla="*/ 1370893 w 7095604"/>
              <a:gd name="connsiteY6" fmla="*/ 119373 h 6858000"/>
              <a:gd name="connsiteX0" fmla="*/ 7095604 w 7187044"/>
              <a:gd name="connsiteY0" fmla="*/ 0 h 6858000"/>
              <a:gd name="connsiteX1" fmla="*/ 7095604 w 7187044"/>
              <a:gd name="connsiteY1" fmla="*/ 6858000 h 6858000"/>
              <a:gd name="connsiteX2" fmla="*/ 1496099 w 7187044"/>
              <a:gd name="connsiteY2" fmla="*/ 6858000 h 6858000"/>
              <a:gd name="connsiteX3" fmla="*/ 1370893 w 7187044"/>
              <a:gd name="connsiteY3" fmla="*/ 6738628 h 6858000"/>
              <a:gd name="connsiteX4" fmla="*/ 0 w 7187044"/>
              <a:gd name="connsiteY4" fmla="*/ 3429000 h 6858000"/>
              <a:gd name="connsiteX5" fmla="*/ 1370893 w 7187044"/>
              <a:gd name="connsiteY5" fmla="*/ 119373 h 6858000"/>
              <a:gd name="connsiteX6" fmla="*/ 1496099 w 7187044"/>
              <a:gd name="connsiteY6" fmla="*/ 0 h 6858000"/>
              <a:gd name="connsiteX7" fmla="*/ 7187044 w 7187044"/>
              <a:gd name="connsiteY7" fmla="*/ 91440 h 6858000"/>
              <a:gd name="connsiteX0" fmla="*/ 7095604 w 7095604"/>
              <a:gd name="connsiteY0" fmla="*/ 0 h 6858000"/>
              <a:gd name="connsiteX1" fmla="*/ 7095604 w 7095604"/>
              <a:gd name="connsiteY1" fmla="*/ 6858000 h 6858000"/>
              <a:gd name="connsiteX2" fmla="*/ 1496099 w 7095604"/>
              <a:gd name="connsiteY2" fmla="*/ 6858000 h 6858000"/>
              <a:gd name="connsiteX3" fmla="*/ 1370893 w 7095604"/>
              <a:gd name="connsiteY3" fmla="*/ 6738628 h 6858000"/>
              <a:gd name="connsiteX4" fmla="*/ 0 w 7095604"/>
              <a:gd name="connsiteY4" fmla="*/ 3429000 h 6858000"/>
              <a:gd name="connsiteX5" fmla="*/ 1370893 w 7095604"/>
              <a:gd name="connsiteY5" fmla="*/ 119373 h 6858000"/>
              <a:gd name="connsiteX6" fmla="*/ 1496099 w 7095604"/>
              <a:gd name="connsiteY6" fmla="*/ 0 h 6858000"/>
              <a:gd name="connsiteX0" fmla="*/ 7095604 w 7095604"/>
              <a:gd name="connsiteY0" fmla="*/ 6858000 h 6858000"/>
              <a:gd name="connsiteX1" fmla="*/ 1496099 w 7095604"/>
              <a:gd name="connsiteY1" fmla="*/ 6858000 h 6858000"/>
              <a:gd name="connsiteX2" fmla="*/ 1370893 w 7095604"/>
              <a:gd name="connsiteY2" fmla="*/ 6738628 h 6858000"/>
              <a:gd name="connsiteX3" fmla="*/ 0 w 7095604"/>
              <a:gd name="connsiteY3" fmla="*/ 3429000 h 6858000"/>
              <a:gd name="connsiteX4" fmla="*/ 1370893 w 7095604"/>
              <a:gd name="connsiteY4" fmla="*/ 119373 h 6858000"/>
              <a:gd name="connsiteX5" fmla="*/ 1496099 w 7095604"/>
              <a:gd name="connsiteY5" fmla="*/ 0 h 6858000"/>
              <a:gd name="connsiteX0" fmla="*/ 1496099 w 1496099"/>
              <a:gd name="connsiteY0" fmla="*/ 6858000 h 6858000"/>
              <a:gd name="connsiteX1" fmla="*/ 1370893 w 1496099"/>
              <a:gd name="connsiteY1" fmla="*/ 6738628 h 6858000"/>
              <a:gd name="connsiteX2" fmla="*/ 0 w 1496099"/>
              <a:gd name="connsiteY2" fmla="*/ 3429000 h 6858000"/>
              <a:gd name="connsiteX3" fmla="*/ 1370893 w 1496099"/>
              <a:gd name="connsiteY3" fmla="*/ 119373 h 6858000"/>
              <a:gd name="connsiteX4" fmla="*/ 1496099 w 149609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99" h="6858000">
                <a:moveTo>
                  <a:pt x="1496099" y="6858000"/>
                </a:moveTo>
                <a:lnTo>
                  <a:pt x="1370893" y="6738628"/>
                </a:lnTo>
                <a:cubicBezTo>
                  <a:pt x="523885" y="5891620"/>
                  <a:pt x="0" y="4721490"/>
                  <a:pt x="0" y="3429000"/>
                </a:cubicBezTo>
                <a:cubicBezTo>
                  <a:pt x="0" y="2136510"/>
                  <a:pt x="523885" y="966380"/>
                  <a:pt x="1370893" y="119373"/>
                </a:cubicBezTo>
                <a:lnTo>
                  <a:pt x="1496099" y="0"/>
                </a:lnTo>
              </a:path>
            </a:pathLst>
          </a:custGeom>
          <a:noFill/>
          <a:ln w="6350" cap="sq">
            <a:solidFill>
              <a:srgbClr val="FFE5E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95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076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8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24611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096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6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979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5729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2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4FEC4237-A546-437A-A879-20113FC59E05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1BE84CF1-CA74-4B66-840D-8A4C66A7FC45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Rectangle 255">
              <a:extLst>
                <a:ext uri="{FF2B5EF4-FFF2-40B4-BE49-F238E27FC236}">
                  <a16:creationId xmlns:a16="http://schemas.microsoft.com/office/drawing/2014/main" id="{6B6F8D4C-9EA0-43B8-AE50-DDD3ECB8CF55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Rectangle 256">
              <a:extLst>
                <a:ext uri="{FF2B5EF4-FFF2-40B4-BE49-F238E27FC236}">
                  <a16:creationId xmlns:a16="http://schemas.microsoft.com/office/drawing/2014/main" id="{CAFB49BA-C6D5-48F5-8E80-FA5898CF6A61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19" name="Rectangle 257">
              <a:extLst>
                <a:ext uri="{FF2B5EF4-FFF2-40B4-BE49-F238E27FC236}">
                  <a16:creationId xmlns:a16="http://schemas.microsoft.com/office/drawing/2014/main" id="{8B21EC27-A9AC-4E9E-9E84-1816AE712C6C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0" name="Rectangle 258">
              <a:extLst>
                <a:ext uri="{FF2B5EF4-FFF2-40B4-BE49-F238E27FC236}">
                  <a16:creationId xmlns:a16="http://schemas.microsoft.com/office/drawing/2014/main" id="{A159A8CB-3401-4870-8FEC-A20F86A56077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1" name="Rectangle 259">
              <a:extLst>
                <a:ext uri="{FF2B5EF4-FFF2-40B4-BE49-F238E27FC236}">
                  <a16:creationId xmlns:a16="http://schemas.microsoft.com/office/drawing/2014/main" id="{8BA58CA1-5274-419F-9659-26673FE87794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2" name="Rectangle 260">
              <a:extLst>
                <a:ext uri="{FF2B5EF4-FFF2-40B4-BE49-F238E27FC236}">
                  <a16:creationId xmlns:a16="http://schemas.microsoft.com/office/drawing/2014/main" id="{B3EEDCB3-AE13-4C8E-A77B-EF706E448341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3" name="Straight Connector 266">
              <a:extLst>
                <a:ext uri="{FF2B5EF4-FFF2-40B4-BE49-F238E27FC236}">
                  <a16:creationId xmlns:a16="http://schemas.microsoft.com/office/drawing/2014/main" id="{7F6E0470-E080-4CEA-AB88-F5CBDC732C43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76">
              <a:extLst>
                <a:ext uri="{FF2B5EF4-FFF2-40B4-BE49-F238E27FC236}">
                  <a16:creationId xmlns:a16="http://schemas.microsoft.com/office/drawing/2014/main" id="{ACCD7822-4454-42B1-8376-4DFA4623B9E3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78">
              <a:extLst>
                <a:ext uri="{FF2B5EF4-FFF2-40B4-BE49-F238E27FC236}">
                  <a16:creationId xmlns:a16="http://schemas.microsoft.com/office/drawing/2014/main" id="{838D3F53-5195-478A-B513-41C2075D368F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9">
              <a:extLst>
                <a:ext uri="{FF2B5EF4-FFF2-40B4-BE49-F238E27FC236}">
                  <a16:creationId xmlns:a16="http://schemas.microsoft.com/office/drawing/2014/main" id="{BBAB8B02-A4CD-4E60-B8B7-F62A42998F83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82">
              <a:extLst>
                <a:ext uri="{FF2B5EF4-FFF2-40B4-BE49-F238E27FC236}">
                  <a16:creationId xmlns:a16="http://schemas.microsoft.com/office/drawing/2014/main" id="{9E20C100-3357-441F-B5E1-71DC8751C39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0">
              <a:extLst>
                <a:ext uri="{FF2B5EF4-FFF2-40B4-BE49-F238E27FC236}">
                  <a16:creationId xmlns:a16="http://schemas.microsoft.com/office/drawing/2014/main" id="{CF79C6E8-FBCB-43EA-9B87-DE70C337E5D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1">
              <a:extLst>
                <a:ext uri="{FF2B5EF4-FFF2-40B4-BE49-F238E27FC236}">
                  <a16:creationId xmlns:a16="http://schemas.microsoft.com/office/drawing/2014/main" id="{4FECD9E3-A61D-4132-82D0-F397DDE00AD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62">
              <a:extLst>
                <a:ext uri="{FF2B5EF4-FFF2-40B4-BE49-F238E27FC236}">
                  <a16:creationId xmlns:a16="http://schemas.microsoft.com/office/drawing/2014/main" id="{F7B665DA-3A87-4CF4-A552-D9C43A062D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63">
              <a:extLst>
                <a:ext uri="{FF2B5EF4-FFF2-40B4-BE49-F238E27FC236}">
                  <a16:creationId xmlns:a16="http://schemas.microsoft.com/office/drawing/2014/main" id="{2F8B9619-0088-4371-959C-3938B38A8FC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4">
              <a:extLst>
                <a:ext uri="{FF2B5EF4-FFF2-40B4-BE49-F238E27FC236}">
                  <a16:creationId xmlns:a16="http://schemas.microsoft.com/office/drawing/2014/main" id="{9D63C713-28C0-4C3E-ADFE-824B2F5ACA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5">
              <a:extLst>
                <a:ext uri="{FF2B5EF4-FFF2-40B4-BE49-F238E27FC236}">
                  <a16:creationId xmlns:a16="http://schemas.microsoft.com/office/drawing/2014/main" id="{C522B35A-648A-4D9F-B4A1-8BA62280A2E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6">
              <a:extLst>
                <a:ext uri="{FF2B5EF4-FFF2-40B4-BE49-F238E27FC236}">
                  <a16:creationId xmlns:a16="http://schemas.microsoft.com/office/drawing/2014/main" id="{256F4808-5A36-4D60-AEC7-A75FB6508BD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7">
              <a:extLst>
                <a:ext uri="{FF2B5EF4-FFF2-40B4-BE49-F238E27FC236}">
                  <a16:creationId xmlns:a16="http://schemas.microsoft.com/office/drawing/2014/main" id="{1D450992-7FE2-4B25-8D5D-5742F65B54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8">
              <a:extLst>
                <a:ext uri="{FF2B5EF4-FFF2-40B4-BE49-F238E27FC236}">
                  <a16:creationId xmlns:a16="http://schemas.microsoft.com/office/drawing/2014/main" id="{6E05D351-C064-457A-AB6F-088D3D15C6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9">
              <a:extLst>
                <a:ext uri="{FF2B5EF4-FFF2-40B4-BE49-F238E27FC236}">
                  <a16:creationId xmlns:a16="http://schemas.microsoft.com/office/drawing/2014/main" id="{657336D3-8A91-436A-AAB0-85788BD8B17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70">
              <a:extLst>
                <a:ext uri="{FF2B5EF4-FFF2-40B4-BE49-F238E27FC236}">
                  <a16:creationId xmlns:a16="http://schemas.microsoft.com/office/drawing/2014/main" id="{1D2C8FBE-4546-4505-AAA3-9F818A6E1CA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71">
              <a:extLst>
                <a:ext uri="{FF2B5EF4-FFF2-40B4-BE49-F238E27FC236}">
                  <a16:creationId xmlns:a16="http://schemas.microsoft.com/office/drawing/2014/main" id="{CDCB4743-5576-428D-BA50-9EF3356F75C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73">
              <a:extLst>
                <a:ext uri="{FF2B5EF4-FFF2-40B4-BE49-F238E27FC236}">
                  <a16:creationId xmlns:a16="http://schemas.microsoft.com/office/drawing/2014/main" id="{A64D75F7-959A-4690-AE47-9394D22851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74">
              <a:extLst>
                <a:ext uri="{FF2B5EF4-FFF2-40B4-BE49-F238E27FC236}">
                  <a16:creationId xmlns:a16="http://schemas.microsoft.com/office/drawing/2014/main" id="{20AE5433-53CF-4628-87FF-E8535313FB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75">
              <a:extLst>
                <a:ext uri="{FF2B5EF4-FFF2-40B4-BE49-F238E27FC236}">
                  <a16:creationId xmlns:a16="http://schemas.microsoft.com/office/drawing/2014/main" id="{169ED0C3-373C-427F-8585-5F651D33CD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76">
              <a:extLst>
                <a:ext uri="{FF2B5EF4-FFF2-40B4-BE49-F238E27FC236}">
                  <a16:creationId xmlns:a16="http://schemas.microsoft.com/office/drawing/2014/main" id="{C5798341-E9A9-43A2-8D90-CBFBC5EFDE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77">
              <a:extLst>
                <a:ext uri="{FF2B5EF4-FFF2-40B4-BE49-F238E27FC236}">
                  <a16:creationId xmlns:a16="http://schemas.microsoft.com/office/drawing/2014/main" id="{BB0A969A-4E27-4EF5-8FB7-480AB941EA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78">
              <a:extLst>
                <a:ext uri="{FF2B5EF4-FFF2-40B4-BE49-F238E27FC236}">
                  <a16:creationId xmlns:a16="http://schemas.microsoft.com/office/drawing/2014/main" id="{92C2BC54-578E-4DEB-936F-DDB3DCA62BB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79">
              <a:extLst>
                <a:ext uri="{FF2B5EF4-FFF2-40B4-BE49-F238E27FC236}">
                  <a16:creationId xmlns:a16="http://schemas.microsoft.com/office/drawing/2014/main" id="{F4525A39-64DD-4200-83C8-CED8AB047EE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80">
              <a:extLst>
                <a:ext uri="{FF2B5EF4-FFF2-40B4-BE49-F238E27FC236}">
                  <a16:creationId xmlns:a16="http://schemas.microsoft.com/office/drawing/2014/main" id="{29AF4DDC-8502-4E76-A256-814DBD552A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81">
              <a:extLst>
                <a:ext uri="{FF2B5EF4-FFF2-40B4-BE49-F238E27FC236}">
                  <a16:creationId xmlns:a16="http://schemas.microsoft.com/office/drawing/2014/main" id="{B28AAE2D-0BF9-4A08-9C56-B4C92D58990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82">
              <a:extLst>
                <a:ext uri="{FF2B5EF4-FFF2-40B4-BE49-F238E27FC236}">
                  <a16:creationId xmlns:a16="http://schemas.microsoft.com/office/drawing/2014/main" id="{195B1F88-5FE5-4D28-A8C4-2E0579542D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83">
              <a:extLst>
                <a:ext uri="{FF2B5EF4-FFF2-40B4-BE49-F238E27FC236}">
                  <a16:creationId xmlns:a16="http://schemas.microsoft.com/office/drawing/2014/main" id="{0B29EE42-332C-4E43-A40A-4DBC8460FF4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104">
              <a:extLst>
                <a:ext uri="{FF2B5EF4-FFF2-40B4-BE49-F238E27FC236}">
                  <a16:creationId xmlns:a16="http://schemas.microsoft.com/office/drawing/2014/main" id="{726218AC-5F31-4592-9D94-D6E537CB3A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7">
              <a:extLst>
                <a:ext uri="{FF2B5EF4-FFF2-40B4-BE49-F238E27FC236}">
                  <a16:creationId xmlns:a16="http://schemas.microsoft.com/office/drawing/2014/main" id="{DD75F868-2704-4FB5-BA78-70E91216F07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8">
              <a:extLst>
                <a:ext uri="{FF2B5EF4-FFF2-40B4-BE49-F238E27FC236}">
                  <a16:creationId xmlns:a16="http://schemas.microsoft.com/office/drawing/2014/main" id="{AC4C4121-0C22-4F78-8BEC-1054E75103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9">
              <a:extLst>
                <a:ext uri="{FF2B5EF4-FFF2-40B4-BE49-F238E27FC236}">
                  <a16:creationId xmlns:a16="http://schemas.microsoft.com/office/drawing/2014/main" id="{AADF3EDF-BCA9-4C19-86DC-68338E2847A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10">
              <a:extLst>
                <a:ext uri="{FF2B5EF4-FFF2-40B4-BE49-F238E27FC236}">
                  <a16:creationId xmlns:a16="http://schemas.microsoft.com/office/drawing/2014/main" id="{124E86F8-EABA-45F4-A223-3615267FA65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1">
              <a:extLst>
                <a:ext uri="{FF2B5EF4-FFF2-40B4-BE49-F238E27FC236}">
                  <a16:creationId xmlns:a16="http://schemas.microsoft.com/office/drawing/2014/main" id="{9B862D3F-0D51-4546-8C64-9ECCA52BE43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2">
              <a:extLst>
                <a:ext uri="{FF2B5EF4-FFF2-40B4-BE49-F238E27FC236}">
                  <a16:creationId xmlns:a16="http://schemas.microsoft.com/office/drawing/2014/main" id="{F469876B-3A0C-445B-A205-E2AC573849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3">
              <a:extLst>
                <a:ext uri="{FF2B5EF4-FFF2-40B4-BE49-F238E27FC236}">
                  <a16:creationId xmlns:a16="http://schemas.microsoft.com/office/drawing/2014/main" id="{86793974-8314-46B9-968D-5A52D89D35E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4">
              <a:extLst>
                <a:ext uri="{FF2B5EF4-FFF2-40B4-BE49-F238E27FC236}">
                  <a16:creationId xmlns:a16="http://schemas.microsoft.com/office/drawing/2014/main" id="{88F19FB9-AFC8-4C38-B4BC-F77388D2296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5">
              <a:extLst>
                <a:ext uri="{FF2B5EF4-FFF2-40B4-BE49-F238E27FC236}">
                  <a16:creationId xmlns:a16="http://schemas.microsoft.com/office/drawing/2014/main" id="{B081DCAE-EA52-47D4-A00E-B727345870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6">
              <a:extLst>
                <a:ext uri="{FF2B5EF4-FFF2-40B4-BE49-F238E27FC236}">
                  <a16:creationId xmlns:a16="http://schemas.microsoft.com/office/drawing/2014/main" id="{2C47C7AE-D1B7-4865-8218-2D418F9F7DD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7">
              <a:extLst>
                <a:ext uri="{FF2B5EF4-FFF2-40B4-BE49-F238E27FC236}">
                  <a16:creationId xmlns:a16="http://schemas.microsoft.com/office/drawing/2014/main" id="{A75DB47A-76FC-4F81-87FE-56477432284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8">
              <a:extLst>
                <a:ext uri="{FF2B5EF4-FFF2-40B4-BE49-F238E27FC236}">
                  <a16:creationId xmlns:a16="http://schemas.microsoft.com/office/drawing/2014/main" id="{EE938780-CEF7-44A1-A941-B83D260004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20">
              <a:extLst>
                <a:ext uri="{FF2B5EF4-FFF2-40B4-BE49-F238E27FC236}">
                  <a16:creationId xmlns:a16="http://schemas.microsoft.com/office/drawing/2014/main" id="{B0A10F62-CB21-4149-85FE-A3A8ACA098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06">
              <a:extLst>
                <a:ext uri="{FF2B5EF4-FFF2-40B4-BE49-F238E27FC236}">
                  <a16:creationId xmlns:a16="http://schemas.microsoft.com/office/drawing/2014/main" id="{CD5D7B33-32CD-4564-BF43-E6ED2361F1A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7">
              <a:extLst>
                <a:ext uri="{FF2B5EF4-FFF2-40B4-BE49-F238E27FC236}">
                  <a16:creationId xmlns:a16="http://schemas.microsoft.com/office/drawing/2014/main" id="{C4E098E4-680E-47E5-B8F0-8EDC541EAB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8">
              <a:extLst>
                <a:ext uri="{FF2B5EF4-FFF2-40B4-BE49-F238E27FC236}">
                  <a16:creationId xmlns:a16="http://schemas.microsoft.com/office/drawing/2014/main" id="{B5F90315-2283-438A-B089-49508D6CBA2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9">
              <a:extLst>
                <a:ext uri="{FF2B5EF4-FFF2-40B4-BE49-F238E27FC236}">
                  <a16:creationId xmlns:a16="http://schemas.microsoft.com/office/drawing/2014/main" id="{0FE89B36-412C-47DC-A00F-D9D998844AF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30">
              <a:extLst>
                <a:ext uri="{FF2B5EF4-FFF2-40B4-BE49-F238E27FC236}">
                  <a16:creationId xmlns:a16="http://schemas.microsoft.com/office/drawing/2014/main" id="{2B69AADC-C918-46A9-9380-2F2FE22BCD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31">
              <a:extLst>
                <a:ext uri="{FF2B5EF4-FFF2-40B4-BE49-F238E27FC236}">
                  <a16:creationId xmlns:a16="http://schemas.microsoft.com/office/drawing/2014/main" id="{49AACD4F-52C6-46E4-882F-CBAA6DE91FF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32">
              <a:extLst>
                <a:ext uri="{FF2B5EF4-FFF2-40B4-BE49-F238E27FC236}">
                  <a16:creationId xmlns:a16="http://schemas.microsoft.com/office/drawing/2014/main" id="{37F7917F-62D8-4E27-A159-F39D152D1E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33">
              <a:extLst>
                <a:ext uri="{FF2B5EF4-FFF2-40B4-BE49-F238E27FC236}">
                  <a16:creationId xmlns:a16="http://schemas.microsoft.com/office/drawing/2014/main" id="{D2B68FBE-D800-4FDD-8F41-00EB53C9F98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34">
              <a:extLst>
                <a:ext uri="{FF2B5EF4-FFF2-40B4-BE49-F238E27FC236}">
                  <a16:creationId xmlns:a16="http://schemas.microsoft.com/office/drawing/2014/main" id="{FE40F953-EED4-441C-8D71-8E282A90C6F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35">
              <a:extLst>
                <a:ext uri="{FF2B5EF4-FFF2-40B4-BE49-F238E27FC236}">
                  <a16:creationId xmlns:a16="http://schemas.microsoft.com/office/drawing/2014/main" id="{676B198E-6429-4FA7-9474-742B9A428C0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36">
              <a:extLst>
                <a:ext uri="{FF2B5EF4-FFF2-40B4-BE49-F238E27FC236}">
                  <a16:creationId xmlns:a16="http://schemas.microsoft.com/office/drawing/2014/main" id="{5EAB8946-68EA-468D-B6D4-4322F395E10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7">
              <a:extLst>
                <a:ext uri="{FF2B5EF4-FFF2-40B4-BE49-F238E27FC236}">
                  <a16:creationId xmlns:a16="http://schemas.microsoft.com/office/drawing/2014/main" id="{FBF42C8A-9400-4C9A-8044-BF04C86099C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8">
              <a:extLst>
                <a:ext uri="{FF2B5EF4-FFF2-40B4-BE49-F238E27FC236}">
                  <a16:creationId xmlns:a16="http://schemas.microsoft.com/office/drawing/2014/main" id="{2C19C7AF-41F0-42C4-8AD0-781A29C98F9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9">
              <a:extLst>
                <a:ext uri="{FF2B5EF4-FFF2-40B4-BE49-F238E27FC236}">
                  <a16:creationId xmlns:a16="http://schemas.microsoft.com/office/drawing/2014/main" id="{1552720B-75B2-4BCC-9ED1-5A9E480D682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40">
              <a:extLst>
                <a:ext uri="{FF2B5EF4-FFF2-40B4-BE49-F238E27FC236}">
                  <a16:creationId xmlns:a16="http://schemas.microsoft.com/office/drawing/2014/main" id="{62F8E037-5DD4-458C-9B79-50DB8D1D51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42">
              <a:extLst>
                <a:ext uri="{FF2B5EF4-FFF2-40B4-BE49-F238E27FC236}">
                  <a16:creationId xmlns:a16="http://schemas.microsoft.com/office/drawing/2014/main" id="{18949D6A-25A7-4F2D-BF60-45CCC80162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ea">
              <a:extLst>
                <a:ext uri="{FF2B5EF4-FFF2-40B4-BE49-F238E27FC236}">
                  <a16:creationId xmlns:a16="http://schemas.microsoft.com/office/drawing/2014/main" id="{167EFA4C-20A4-4859-A4FF-C93B90D5703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Rectangle 39">
              <a:extLst>
                <a:ext uri="{FF2B5EF4-FFF2-40B4-BE49-F238E27FC236}">
                  <a16:creationId xmlns:a16="http://schemas.microsoft.com/office/drawing/2014/main" id="{45BE284B-0479-4382-9A2C-98DDC89BAE08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15D0EC69-1972-4E56-BA3C-9E69C1E772EF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4" name="Rectangle 39">
              <a:extLst>
                <a:ext uri="{FF2B5EF4-FFF2-40B4-BE49-F238E27FC236}">
                  <a16:creationId xmlns:a16="http://schemas.microsoft.com/office/drawing/2014/main" id="{7CBAB2C2-BD8C-457C-B204-E466BC8FF0FA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0627FA8-D4A8-4B59-97CC-C531AFD476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A77CDA-B42B-42CC-B5AF-72FF70C4CA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FF7DA16-F9C0-405C-9578-5786CFB755E6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392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4559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3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63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59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343787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551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0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9634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731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2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3647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74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49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8822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6730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7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6036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97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8054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061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2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06533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9636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5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513020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1407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6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133811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4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9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993189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6537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17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tags" Target="../tags/tag7.xml"/><Relationship Id="rId28" Type="http://schemas.openxmlformats.org/officeDocument/2006/relationships/tags" Target="../tags/tag8.xml"/><Relationship Id="rId29" Type="http://schemas.openxmlformats.org/officeDocument/2006/relationships/tags" Target="../tags/tag9.xml"/><Relationship Id="rId30" Type="http://schemas.openxmlformats.org/officeDocument/2006/relationships/tags" Target="../tags/tag10.xml"/><Relationship Id="rId31" Type="http://schemas.openxmlformats.org/officeDocument/2006/relationships/tags" Target="../tags/tag11.xml"/><Relationship Id="rId32" Type="http://schemas.openxmlformats.org/officeDocument/2006/relationships/tags" Target="../tags/tag12.xml"/><Relationship Id="rId33" Type="http://schemas.openxmlformats.org/officeDocument/2006/relationships/tags" Target="../tags/tag13.xml"/><Relationship Id="rId34" Type="http://schemas.openxmlformats.org/officeDocument/2006/relationships/tags" Target="../tags/tag14.xml"/><Relationship Id="rId35" Type="http://schemas.openxmlformats.org/officeDocument/2006/relationships/tags" Target="../tags/tag15.xml"/><Relationship Id="rId36" Type="http://schemas.openxmlformats.org/officeDocument/2006/relationships/tags" Target="../tags/tag16.xml"/><Relationship Id="rId37" Type="http://schemas.openxmlformats.org/officeDocument/2006/relationships/tags" Target="../tags/tag17.xml"/><Relationship Id="rId38" Type="http://schemas.openxmlformats.org/officeDocument/2006/relationships/tags" Target="../tags/tag18.xml"/><Relationship Id="rId39" Type="http://schemas.openxmlformats.org/officeDocument/2006/relationships/tags" Target="../tags/tag19.xml"/><Relationship Id="rId40" Type="http://schemas.openxmlformats.org/officeDocument/2006/relationships/tags" Target="../tags/tag20.xml"/><Relationship Id="rId41" Type="http://schemas.openxmlformats.org/officeDocument/2006/relationships/tags" Target="../tags/tag21.xml"/><Relationship Id="rId42" Type="http://schemas.openxmlformats.org/officeDocument/2006/relationships/tags" Target="../tags/tag22.xml"/><Relationship Id="rId43" Type="http://schemas.openxmlformats.org/officeDocument/2006/relationships/tags" Target="../tags/tag23.xml"/><Relationship Id="rId44" Type="http://schemas.openxmlformats.org/officeDocument/2006/relationships/tags" Target="../tags/tag24.xml"/><Relationship Id="rId45" Type="http://schemas.openxmlformats.org/officeDocument/2006/relationships/tags" Target="../tags/tag25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21" Type="http://schemas.openxmlformats.org/officeDocument/2006/relationships/vmlDrawing" Target="../drawings/vmlDrawing21.vml"/><Relationship Id="rId22" Type="http://schemas.openxmlformats.org/officeDocument/2006/relationships/tags" Target="../tags/tag140.xml"/><Relationship Id="rId23" Type="http://schemas.openxmlformats.org/officeDocument/2006/relationships/tags" Target="../tags/tag141.xml"/><Relationship Id="rId24" Type="http://schemas.openxmlformats.org/officeDocument/2006/relationships/tags" Target="../tags/tag142.xml"/><Relationship Id="rId25" Type="http://schemas.openxmlformats.org/officeDocument/2006/relationships/tags" Target="../tags/tag143.xml"/><Relationship Id="rId26" Type="http://schemas.openxmlformats.org/officeDocument/2006/relationships/tags" Target="../tags/tag144.xml"/><Relationship Id="rId27" Type="http://schemas.openxmlformats.org/officeDocument/2006/relationships/tags" Target="../tags/tag145.xml"/><Relationship Id="rId28" Type="http://schemas.openxmlformats.org/officeDocument/2006/relationships/tags" Target="../tags/tag146.xml"/><Relationship Id="rId29" Type="http://schemas.openxmlformats.org/officeDocument/2006/relationships/tags" Target="../tags/tag147.xml"/><Relationship Id="rId30" Type="http://schemas.openxmlformats.org/officeDocument/2006/relationships/tags" Target="../tags/tag148.xml"/><Relationship Id="rId31" Type="http://schemas.openxmlformats.org/officeDocument/2006/relationships/tags" Target="../tags/tag149.xml"/><Relationship Id="rId32" Type="http://schemas.openxmlformats.org/officeDocument/2006/relationships/tags" Target="../tags/tag150.xml"/><Relationship Id="rId33" Type="http://schemas.openxmlformats.org/officeDocument/2006/relationships/tags" Target="../tags/tag151.xml"/><Relationship Id="rId34" Type="http://schemas.openxmlformats.org/officeDocument/2006/relationships/tags" Target="../tags/tag152.xml"/><Relationship Id="rId35" Type="http://schemas.openxmlformats.org/officeDocument/2006/relationships/tags" Target="../tags/tag153.xml"/><Relationship Id="rId36" Type="http://schemas.openxmlformats.org/officeDocument/2006/relationships/tags" Target="../tags/tag154.xml"/><Relationship Id="rId37" Type="http://schemas.openxmlformats.org/officeDocument/2006/relationships/tags" Target="../tags/tag155.xml"/><Relationship Id="rId38" Type="http://schemas.openxmlformats.org/officeDocument/2006/relationships/tags" Target="../tags/tag156.xml"/><Relationship Id="rId39" Type="http://schemas.openxmlformats.org/officeDocument/2006/relationships/tags" Target="../tags/tag157.xml"/><Relationship Id="rId40" Type="http://schemas.openxmlformats.org/officeDocument/2006/relationships/tags" Target="../tags/tag158.xml"/><Relationship Id="rId41" Type="http://schemas.openxmlformats.org/officeDocument/2006/relationships/tags" Target="../tags/tag159.xml"/><Relationship Id="rId42" Type="http://schemas.openxmlformats.org/officeDocument/2006/relationships/tags" Target="../tags/tag160.xml"/><Relationship Id="rId43" Type="http://schemas.openxmlformats.org/officeDocument/2006/relationships/tags" Target="../tags/tag161.xml"/><Relationship Id="rId44" Type="http://schemas.openxmlformats.org/officeDocument/2006/relationships/tags" Target="../tags/tag162.xml"/><Relationship Id="rId45" Type="http://schemas.openxmlformats.org/officeDocument/2006/relationships/tags" Target="../tags/tag163.xml"/><Relationship Id="rId46" Type="http://schemas.openxmlformats.org/officeDocument/2006/relationships/oleObject" Target="../embeddings/oleObject2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667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894" r:id="rId4"/>
    <p:sldLayoutId id="2147483654" r:id="rId5"/>
    <p:sldLayoutId id="2147483883" r:id="rId6"/>
    <p:sldLayoutId id="2147483885" r:id="rId7"/>
    <p:sldLayoutId id="2147483892" r:id="rId8"/>
    <p:sldLayoutId id="2147483895" r:id="rId9"/>
    <p:sldLayoutId id="2147483893" r:id="rId10"/>
    <p:sldLayoutId id="2147483659" r:id="rId11"/>
    <p:sldLayoutId id="2147483804" r:id="rId12"/>
    <p:sldLayoutId id="2147483860" r:id="rId13"/>
    <p:sldLayoutId id="2147483856" r:id="rId14"/>
    <p:sldLayoutId id="2147483805" r:id="rId15"/>
    <p:sldLayoutId id="2147483806" r:id="rId16"/>
    <p:sldLayoutId id="2147483882" r:id="rId17"/>
    <p:sldLayoutId id="2147483706" r:id="rId18"/>
    <p:sldLayoutId id="214748371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82853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63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1.v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.xml"/><Relationship Id="rId8" Type="http://schemas.openxmlformats.org/officeDocument/2006/relationships/oleObject" Target="../embeddings/oleObject41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2.v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tags" Target="../tags/tag284.xml"/><Relationship Id="rId5" Type="http://schemas.openxmlformats.org/officeDocument/2006/relationships/tags" Target="../tags/tag285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.xml"/><Relationship Id="rId8" Type="http://schemas.openxmlformats.org/officeDocument/2006/relationships/oleObject" Target="../embeddings/oleObject42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9.png"/><Relationship Id="rId14" Type="http://schemas.openxmlformats.org/officeDocument/2006/relationships/image" Target="../media/image21.png"/><Relationship Id="rId1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44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1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54735" y="1762125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/>
              <a:t>Т-Банк строил не портфель бизнесов, а один продукт: </a:t>
            </a:r>
            <a:r>
              <a:rPr lang="ru-RU" dirty="0" err="1"/>
              <a:t>нефины</a:t>
            </a:r>
            <a:r>
              <a:rPr lang="ru-RU" dirty="0"/>
              <a:t> встроены в приложение и работают на привлечение клиента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pic>
        <p:nvPicPr>
          <p:cNvPr id="89" name="Picture 28">
            <a:extLst>
              <a:ext uri="{FF2B5EF4-FFF2-40B4-BE49-F238E27FC236}">
                <a16:creationId xmlns:a16="http://schemas.microsoft.com/office/drawing/2014/main" id="{800F51AF-23B4-40B2-899A-C69D52F80EA1}"/>
              </a:ext>
            </a:extLst>
          </p:cNvPr>
          <p:cNvPicPr>
            <a:picLocks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4439" y="1010726"/>
            <a:ext cx="661775" cy="206596"/>
          </a:xfrm>
          <a:prstGeom prst="rect">
            <a:avLst/>
          </a:prstGeom>
        </p:spPr>
      </p:pic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материалы и справка Т-Банка, «Ведомости», CNews, vc.ru, </a:t>
            </a:r>
            <a:r>
              <a:rPr lang="ru-RU" dirty="0" err="1"/>
              <a:t>TAdviser</a:t>
            </a:r>
            <a:r>
              <a:rPr lang="ru-RU" dirty="0"/>
              <a:t>, Frank RG, </a:t>
            </a:r>
            <a:r>
              <a:rPr lang="ru-RU" dirty="0" err="1"/>
              <a:t>Sostav</a:t>
            </a:r>
            <a:r>
              <a:rPr lang="ru-RU" dirty="0"/>
              <a:t>, «Альфа-Инвестиции»; анализ команды. Даты запуска сервисов блока 2019–2023 гг. открыто не раскрывались и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id="{D65733A4-09C4-4331-B6C4-351BFDF43A0B}"/>
              </a:ext>
            </a:extLst>
          </p:cNvPr>
          <p:cNvGrpSpPr>
            <a:grpSpLocks/>
          </p:cNvGrpSpPr>
          <p:nvPr/>
        </p:nvGrpSpPr>
        <p:grpSpPr>
          <a:xfrm>
            <a:off x="9962579" y="1949583"/>
            <a:ext cx="1567434" cy="763333"/>
            <a:chOff x="9962579" y="1974172"/>
            <a:chExt cx="1567434" cy="76333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303311-4421-4E16-9550-ACF9FBC6DBDA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1974172"/>
              <a:ext cx="1567434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800" b="1" dirty="0">
                  <a:latin typeface="+mj-lt"/>
                </a:rPr>
                <a:t>14,5%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B48F671-E760-4A48-A775-AE4BC215949F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2275840"/>
              <a:ext cx="1567434" cy="4616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доля в числе клиентов</a:t>
              </a:r>
              <a:r>
                <a:rPr lang="en-US" sz="1000" dirty="0"/>
                <a:t> </a:t>
              </a:r>
              <a:r>
                <a:rPr lang="ru-RU" sz="1000" dirty="0"/>
                <a:t>рынка МСБ (6,6 млн</a:t>
              </a:r>
              <a:r>
                <a:rPr lang="en-US" sz="1000" dirty="0"/>
                <a:t> </a:t>
              </a:r>
              <a:r>
                <a:rPr lang="ru-RU" sz="1000" dirty="0"/>
                <a:t>компаний), 2025 г.</a:t>
              </a:r>
            </a:p>
          </p:txBody>
        </p:sp>
      </p:grpSp>
      <p:grpSp>
        <p:nvGrpSpPr>
          <p:cNvPr id="191" name="Группа 190">
            <a:extLst>
              <a:ext uri="{FF2B5EF4-FFF2-40B4-BE49-F238E27FC236}">
                <a16:creationId xmlns:a16="http://schemas.microsoft.com/office/drawing/2014/main" id="{79AC047C-AF56-43BD-954E-B913907CD01C}"/>
              </a:ext>
            </a:extLst>
          </p:cNvPr>
          <p:cNvGrpSpPr/>
          <p:nvPr/>
        </p:nvGrpSpPr>
        <p:grpSpPr>
          <a:xfrm>
            <a:off x="9962579" y="2828754"/>
            <a:ext cx="1567434" cy="763333"/>
            <a:chOff x="9962579" y="3042877"/>
            <a:chExt cx="1567434" cy="763333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595B871-3CA5-4E5C-8E9C-E1016FC322FB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3042877"/>
              <a:ext cx="1567434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800" b="1" dirty="0">
                  <a:latin typeface="+mj-lt"/>
                </a:rPr>
                <a:t>2,1%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A2C672D-850E-424A-A1CB-CFE8B203FA41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3344545"/>
              <a:ext cx="1567434" cy="4616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доля в средствах</a:t>
              </a:r>
              <a:r>
                <a:rPr lang="en-US" sz="1000" dirty="0"/>
                <a:t> </a:t>
              </a:r>
              <a:r>
                <a:rPr lang="ru-RU" sz="1000" dirty="0"/>
                <a:t>бизнеса (60 трлн руб.) —</a:t>
              </a:r>
              <a:r>
                <a:rPr lang="en-US" sz="1000" dirty="0"/>
                <a:t> </a:t>
              </a:r>
              <a:r>
                <a:rPr lang="ru-RU" sz="1000" dirty="0"/>
                <a:t>разрыв </a:t>
              </a:r>
              <a:br>
                <a:rPr lang="en-US" sz="1000" dirty="0"/>
              </a:br>
              <a:r>
                <a:rPr lang="ru-RU" sz="1000" dirty="0"/>
                <a:t>в 7 раз</a:t>
              </a:r>
            </a:p>
          </p:txBody>
        </p:sp>
      </p:grpSp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798E742B-9C4C-4B00-BAA4-5CC737FC353C}"/>
              </a:ext>
            </a:extLst>
          </p:cNvPr>
          <p:cNvGrpSpPr/>
          <p:nvPr/>
        </p:nvGrpSpPr>
        <p:grpSpPr>
          <a:xfrm>
            <a:off x="9962579" y="3707925"/>
            <a:ext cx="1567434" cy="609445"/>
            <a:chOff x="9962579" y="4197307"/>
            <a:chExt cx="1567434" cy="609445"/>
          </a:xfrm>
        </p:grpSpPr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300389D0-0280-4D86-A31D-8A2850C2A3C7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4197307"/>
              <a:ext cx="1567434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800" b="1" dirty="0">
                  <a:latin typeface="+mj-lt"/>
                </a:rPr>
                <a:t>4,5</a:t>
              </a:r>
              <a:r>
                <a:rPr lang="ru-RU" sz="1200" b="1" dirty="0">
                  <a:latin typeface="+mj-lt"/>
                </a:rPr>
                <a:t> млрд руб.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D9539BD-EA05-45D8-B231-C9EB9A90845A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4498975"/>
              <a:ext cx="1567434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выручка </a:t>
              </a:r>
              <a:r>
                <a:rPr lang="en-US" sz="1000" dirty="0" err="1">
                  <a:cs typeface="+mn-cs"/>
                </a:rPr>
                <a:t>CloudPayments</a:t>
              </a:r>
              <a:r>
                <a:rPr lang="en-US" sz="1000" dirty="0">
                  <a:cs typeface="+mn-cs"/>
                </a:rPr>
                <a:t> </a:t>
              </a:r>
              <a:br>
                <a:rPr lang="en-US" sz="1000" dirty="0">
                  <a:cs typeface="+mn-cs"/>
                </a:rPr>
              </a:br>
              <a:r>
                <a:rPr lang="ru-RU" sz="1000" dirty="0"/>
                <a:t>в 2021 г., рост на 119% г/г</a:t>
              </a:r>
            </a:p>
          </p:txBody>
        </p:sp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C2F5F1BC-2345-4318-80F9-45CF516074B0}"/>
              </a:ext>
            </a:extLst>
          </p:cNvPr>
          <p:cNvGrpSpPr/>
          <p:nvPr/>
        </p:nvGrpSpPr>
        <p:grpSpPr>
          <a:xfrm>
            <a:off x="9962579" y="4433210"/>
            <a:ext cx="1567434" cy="763333"/>
            <a:chOff x="9962579" y="5351737"/>
            <a:chExt cx="1567434" cy="763333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8912BB6-9958-416C-BC53-744E2AD4F5C9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5351737"/>
              <a:ext cx="1567434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800" b="1" dirty="0">
                  <a:latin typeface="+mj-lt"/>
                </a:rPr>
                <a:t>10</a:t>
              </a:r>
              <a:r>
                <a:rPr lang="ru-RU" sz="1200" b="1" dirty="0">
                  <a:latin typeface="+mj-lt"/>
                </a:rPr>
                <a:t> минут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B489064-840C-4A5E-A31E-34C6AB9DD8B0}"/>
                </a:ext>
              </a:extLst>
            </p:cNvPr>
            <p:cNvSpPr txBox="1">
              <a:spLocks/>
            </p:cNvSpPr>
            <p:nvPr/>
          </p:nvSpPr>
          <p:spPr>
            <a:xfrm>
              <a:off x="9962579" y="5653405"/>
              <a:ext cx="1567434" cy="4616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до звонка менеджера</a:t>
              </a:r>
              <a:r>
                <a:rPr lang="en-US" sz="1000" dirty="0"/>
                <a:t> </a:t>
              </a:r>
              <a:br>
                <a:rPr lang="en-US" sz="1000" dirty="0"/>
              </a:br>
              <a:r>
                <a:rPr lang="ru-RU" sz="1000" dirty="0"/>
                <a:t>с предложением сервисов</a:t>
              </a:r>
              <a:r>
                <a:rPr lang="en-US" sz="1000" dirty="0"/>
                <a:t> </a:t>
              </a:r>
              <a:br>
                <a:rPr lang="en-US" sz="1000" dirty="0"/>
              </a:br>
              <a:r>
                <a:rPr lang="en-US" sz="1000" dirty="0"/>
                <a:t>(Frank RG, 2024 </a:t>
              </a:r>
              <a:r>
                <a:rPr lang="ru-RU" sz="1000" dirty="0"/>
                <a:t>г.)</a:t>
              </a:r>
            </a:p>
          </p:txBody>
        </p:sp>
      </p:grp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2579" y="2770835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BDB2B1E1-D745-405A-BD6A-0E9B9BE10315}"/>
              </a:ext>
            </a:extLst>
          </p:cNvPr>
          <p:cNvCxnSpPr>
            <a:cxnSpLocks/>
          </p:cNvCxnSpPr>
          <p:nvPr/>
        </p:nvCxnSpPr>
        <p:spPr>
          <a:xfrm>
            <a:off x="9962579" y="3650006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2579" y="4375289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9867901" y="5029200"/>
            <a:ext cx="1767840" cy="1203960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898" b="23741"/>
          <a:stretch>
            <a:fillRect/>
          </a:stretch>
        </p:blipFill>
        <p:spPr>
          <a:xfrm flipH="1">
            <a:off x="10045700" y="4959384"/>
            <a:ext cx="1588516" cy="12737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17" name="Text 14">
            <a:extLst>
              <a:ext uri="{FF2B5EF4-FFF2-40B4-BE49-F238E27FC236}">
                <a16:creationId xmlns:a16="http://schemas.microsoft.com/office/drawing/2014/main" id="{98C3CE25-1F92-4383-BDED-DCBB8EC9BBFF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6012180" cy="220734"/>
          </a:xfrm>
          <a:prstGeom prst="roundRect">
            <a:avLst>
              <a:gd name="adj" fmla="val 29724"/>
            </a:avLst>
          </a:prstGeom>
          <a:solidFill>
            <a:srgbClr val="FEDD2D">
              <a:alpha val="35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00" b="1" dirty="0" err="1">
                <a:cs typeface="Arial" panose="020B0604020202020204" pitchFamily="34" charset="0"/>
              </a:rPr>
              <a:t>Нефинансовые</a:t>
            </a:r>
            <a:r>
              <a:rPr lang="en-US" sz="1000" b="1" dirty="0">
                <a:cs typeface="Arial" panose="020B0604020202020204" pitchFamily="34" charset="0"/>
              </a:rPr>
              <a:t> </a:t>
            </a:r>
            <a:r>
              <a:rPr lang="en-US" sz="1000" b="1" dirty="0" err="1">
                <a:cs typeface="Arial" panose="020B0604020202020204" pitchFamily="34" charset="0"/>
              </a:rPr>
              <a:t>сервисы</a:t>
            </a:r>
            <a:endParaRPr lang="en-US" sz="1000" b="1" dirty="0">
              <a:cs typeface="Arial" panose="020B0604020202020204" pitchFamily="34" charset="0"/>
            </a:endParaRPr>
          </a:p>
        </p:txBody>
      </p:sp>
      <p:pic>
        <p:nvPicPr>
          <p:cNvPr id="211" name="Рисунок 210">
            <a:extLst>
              <a:ext uri="{FF2B5EF4-FFF2-40B4-BE49-F238E27FC236}">
                <a16:creationId xmlns:a16="http://schemas.microsoft.com/office/drawing/2014/main" id="{852BCCA7-77FC-4853-AAB5-F8553EF1D19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2140583"/>
            <a:ext cx="2935824" cy="1688099"/>
          </a:xfrm>
          <a:prstGeom prst="rect">
            <a:avLst/>
          </a:prstGeom>
        </p:spPr>
      </p:pic>
      <p:pic>
        <p:nvPicPr>
          <p:cNvPr id="212" name="Рисунок 211">
            <a:extLst>
              <a:ext uri="{FF2B5EF4-FFF2-40B4-BE49-F238E27FC236}">
                <a16:creationId xmlns:a16="http://schemas.microsoft.com/office/drawing/2014/main" id="{D8D3F33A-1A7C-4511-94FD-B33BA82A928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2140583"/>
            <a:ext cx="2935824" cy="1688099"/>
          </a:xfrm>
          <a:prstGeom prst="rect">
            <a:avLst/>
          </a:prstGeom>
        </p:spPr>
      </p:pic>
      <p:pic>
        <p:nvPicPr>
          <p:cNvPr id="213" name="Рисунок 212">
            <a:extLst>
              <a:ext uri="{FF2B5EF4-FFF2-40B4-BE49-F238E27FC236}">
                <a16:creationId xmlns:a16="http://schemas.microsoft.com/office/drawing/2014/main" id="{75070932-7EB5-43F5-B982-32C20589A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4153522"/>
            <a:ext cx="2935824" cy="1688099"/>
          </a:xfrm>
          <a:prstGeom prst="rect">
            <a:avLst/>
          </a:prstGeom>
        </p:spPr>
      </p:pic>
      <p:pic>
        <p:nvPicPr>
          <p:cNvPr id="214" name="Рисунок 213">
            <a:extLst>
              <a:ext uri="{FF2B5EF4-FFF2-40B4-BE49-F238E27FC236}">
                <a16:creationId xmlns:a16="http://schemas.microsoft.com/office/drawing/2014/main" id="{A299595A-995C-4947-9236-8D39A4EFFB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4153522"/>
            <a:ext cx="2935824" cy="1688099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9BB9D32D-2476-43D4-BFE8-325E271E35FC}"/>
              </a:ext>
            </a:extLst>
          </p:cNvPr>
          <p:cNvSpPr txBox="1">
            <a:spLocks/>
          </p:cNvSpPr>
          <p:nvPr/>
        </p:nvSpPr>
        <p:spPr>
          <a:xfrm>
            <a:off x="3696561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Онлайн-бухгалтерия</a:t>
            </a:r>
            <a:r>
              <a:rPr lang="en-US" sz="1000" dirty="0"/>
              <a:t> </a:t>
            </a:r>
            <a:r>
              <a:rPr lang="ru-RU" sz="1000" dirty="0"/>
              <a:t>и персональный бухгалтер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388EF1-E1BA-4B7E-B651-9D6A1BCE864C}"/>
              </a:ext>
            </a:extLst>
          </p:cNvPr>
          <p:cNvSpPr txBox="1">
            <a:spLocks/>
          </p:cNvSpPr>
          <p:nvPr/>
        </p:nvSpPr>
        <p:spPr>
          <a:xfrm>
            <a:off x="6694812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Работа с маркетплейсами</a:t>
            </a:r>
            <a:r>
              <a:rPr lang="en-US" sz="1000" dirty="0"/>
              <a:t> </a:t>
            </a:r>
            <a:r>
              <a:rPr lang="ru-RU" sz="1000" dirty="0"/>
              <a:t>(«</a:t>
            </a:r>
            <a:r>
              <a:rPr lang="ru-RU" sz="1000" dirty="0" err="1"/>
              <a:t>Селлер</a:t>
            </a:r>
            <a:r>
              <a:rPr lang="ru-RU" sz="1000" dirty="0"/>
              <a:t>»)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B326F4B-DF34-4741-AEA7-FA10DC4113C0}"/>
              </a:ext>
            </a:extLst>
          </p:cNvPr>
          <p:cNvSpPr txBox="1">
            <a:spLocks/>
          </p:cNvSpPr>
          <p:nvPr/>
        </p:nvSpPr>
        <p:spPr>
          <a:xfrm>
            <a:off x="3696561" y="5872727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Конструктор сайтов</a:t>
            </a:r>
            <a:r>
              <a:rPr lang="en-US" sz="1000" dirty="0"/>
              <a:t> </a:t>
            </a:r>
            <a:r>
              <a:rPr lang="ru-RU" sz="1000" dirty="0"/>
              <a:t>и чат для сайта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882558B-294E-4161-AD37-665A34A7D529}"/>
              </a:ext>
            </a:extLst>
          </p:cNvPr>
          <p:cNvSpPr txBox="1">
            <a:spLocks/>
          </p:cNvSpPr>
          <p:nvPr/>
        </p:nvSpPr>
        <p:spPr>
          <a:xfrm>
            <a:off x="6694812" y="5872727"/>
            <a:ext cx="2935824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Речевая аналитика звонков,</a:t>
            </a:r>
            <a:r>
              <a:rPr lang="en-US" sz="1000" dirty="0"/>
              <a:t> </a:t>
            </a:r>
            <a:r>
              <a:rPr lang="ru-RU" sz="1000" dirty="0"/>
              <a:t>КЭП и кадровые документы</a:t>
            </a:r>
          </a:p>
        </p:txBody>
      </p:sp>
      <p:sp>
        <p:nvSpPr>
          <p:cNvPr id="231" name="Shape 58">
            <a:extLst>
              <a:ext uri="{FF2B5EF4-FFF2-40B4-BE49-F238E27FC236}">
                <a16:creationId xmlns:a16="http://schemas.microsoft.com/office/drawing/2014/main" id="{1777911A-5F91-47E3-8F13-A464CB5419CD}"/>
              </a:ext>
            </a:extLst>
          </p:cNvPr>
          <p:cNvSpPr/>
          <p:nvPr/>
        </p:nvSpPr>
        <p:spPr>
          <a:xfrm>
            <a:off x="4053330" y="2206359"/>
            <a:ext cx="2222287" cy="1439442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9525">
            <a:noFill/>
            <a:prstDash val="dash"/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скрин</a:t>
            </a:r>
            <a:r>
              <a:rPr lang="en-US" sz="800" dirty="0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: </a:t>
            </a:r>
            <a:r>
              <a:rPr lang="en-US" sz="800" dirty="0" err="1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налоги</a:t>
            </a:r>
            <a:r>
              <a:rPr lang="en-US" sz="800" dirty="0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 и </a:t>
            </a:r>
            <a:r>
              <a:rPr lang="en-US" sz="800" dirty="0" err="1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отчётность</a:t>
            </a:r>
            <a:endParaRPr lang="en-US" sz="800" dirty="0"/>
          </a:p>
        </p:txBody>
      </p:sp>
      <p:sp>
        <p:nvSpPr>
          <p:cNvPr id="233" name="Shape 58">
            <a:extLst>
              <a:ext uri="{FF2B5EF4-FFF2-40B4-BE49-F238E27FC236}">
                <a16:creationId xmlns:a16="http://schemas.microsoft.com/office/drawing/2014/main" id="{7E3AD32A-93F9-48FA-ACA2-BD97A68ABEFE}"/>
              </a:ext>
            </a:extLst>
          </p:cNvPr>
          <p:cNvSpPr/>
          <p:nvPr/>
        </p:nvSpPr>
        <p:spPr>
          <a:xfrm>
            <a:off x="7051581" y="2206359"/>
            <a:ext cx="2222287" cy="1439442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9525">
            <a:noFill/>
            <a:prstDash val="dash"/>
          </a:ln>
        </p:spPr>
        <p:txBody>
          <a:bodyPr anchor="ctr"/>
          <a:lstStyle/>
          <a:p>
            <a:pPr marL="0" indent="0" algn="ctr">
              <a:buNone/>
            </a:pPr>
            <a:r>
              <a:rPr lang="ru-RU" sz="800" dirty="0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скрин: кабинет </a:t>
            </a:r>
            <a:r>
              <a:rPr lang="ru-RU" sz="800" dirty="0" err="1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селлера</a:t>
            </a:r>
            <a:endParaRPr lang="ru-RU" sz="800" dirty="0">
              <a:solidFill>
                <a:srgbClr val="98A1A7"/>
              </a:solidFill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4" name="Shape 58">
            <a:extLst>
              <a:ext uri="{FF2B5EF4-FFF2-40B4-BE49-F238E27FC236}">
                <a16:creationId xmlns:a16="http://schemas.microsoft.com/office/drawing/2014/main" id="{0BE094A1-713A-4F6B-BA8E-E65C9122414F}"/>
              </a:ext>
            </a:extLst>
          </p:cNvPr>
          <p:cNvSpPr/>
          <p:nvPr/>
        </p:nvSpPr>
        <p:spPr>
          <a:xfrm>
            <a:off x="7051581" y="4219298"/>
            <a:ext cx="2222287" cy="1439442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9525">
            <a:noFill/>
            <a:prstDash val="dash"/>
          </a:ln>
        </p:spPr>
        <p:txBody>
          <a:bodyPr anchor="ctr"/>
          <a:lstStyle/>
          <a:p>
            <a:pPr marL="0" indent="0" algn="ctr">
              <a:buNone/>
            </a:pPr>
            <a:r>
              <a:rPr lang="ru-RU" sz="800" dirty="0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скрин: анализ звонка</a:t>
            </a:r>
          </a:p>
        </p:txBody>
      </p:sp>
      <p:sp>
        <p:nvSpPr>
          <p:cNvPr id="235" name="Shape 58">
            <a:extLst>
              <a:ext uri="{FF2B5EF4-FFF2-40B4-BE49-F238E27FC236}">
                <a16:creationId xmlns:a16="http://schemas.microsoft.com/office/drawing/2014/main" id="{1DB12A22-FF9B-4BC6-8EA0-8B2648FCBBB6}"/>
              </a:ext>
            </a:extLst>
          </p:cNvPr>
          <p:cNvSpPr/>
          <p:nvPr/>
        </p:nvSpPr>
        <p:spPr>
          <a:xfrm>
            <a:off x="4053330" y="4219298"/>
            <a:ext cx="2222287" cy="1439442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 w="9525">
            <a:noFill/>
            <a:prstDash val="dash"/>
          </a:ln>
        </p:spPr>
        <p:txBody>
          <a:bodyPr anchor="ctr"/>
          <a:lstStyle/>
          <a:p>
            <a:pPr marL="0" indent="0" algn="ctr">
              <a:buNone/>
            </a:pPr>
            <a:r>
              <a:rPr lang="ru-RU" sz="800" dirty="0">
                <a:solidFill>
                  <a:srgbClr val="98A1A7"/>
                </a:solidFill>
                <a:ea typeface="Arial" pitchFamily="34" charset="-122"/>
                <a:cs typeface="Arial" pitchFamily="34" charset="-120"/>
              </a:rPr>
              <a:t>скрин: сборка сайта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grpSp>
        <p:nvGrpSpPr>
          <p:cNvPr id="295" name="Группа 294">
            <a:extLst>
              <a:ext uri="{FF2B5EF4-FFF2-40B4-BE49-F238E27FC236}">
                <a16:creationId xmlns:a16="http://schemas.microsoft.com/office/drawing/2014/main" id="{686241F7-0FFA-4B27-958A-2333DBB59A25}"/>
              </a:ext>
            </a:extLst>
          </p:cNvPr>
          <p:cNvGrpSpPr/>
          <p:nvPr/>
        </p:nvGrpSpPr>
        <p:grpSpPr>
          <a:xfrm>
            <a:off x="1212850" y="1857737"/>
            <a:ext cx="2159000" cy="505408"/>
            <a:chOff x="1212850" y="1857737"/>
            <a:chExt cx="2159000" cy="505408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60EA4617-3B2A-4D7D-9CF8-129676C2E2A5}"/>
                </a:ext>
              </a:extLst>
            </p:cNvPr>
            <p:cNvSpPr txBox="1"/>
            <p:nvPr/>
          </p:nvSpPr>
          <p:spPr>
            <a:xfrm>
              <a:off x="1212850" y="2055368"/>
              <a:ext cx="215900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Выход в сегмент МСБ без отделений и унаследованной клиентской базы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F1A809BB-1873-4AB9-A6C1-D02B62140CC8}"/>
                </a:ext>
              </a:extLst>
            </p:cNvPr>
            <p:cNvSpPr txBox="1"/>
            <p:nvPr/>
          </p:nvSpPr>
          <p:spPr>
            <a:xfrm>
              <a:off x="1212850" y="1857737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Запуск РКО для бизнеса</a:t>
              </a:r>
            </a:p>
          </p:txBody>
        </p:sp>
      </p:grpSp>
      <p:sp>
        <p:nvSpPr>
          <p:cNvPr id="284" name="Прямоугольник: скругленные углы 283">
            <a:extLst>
              <a:ext uri="{FF2B5EF4-FFF2-40B4-BE49-F238E27FC236}">
                <a16:creationId xmlns:a16="http://schemas.microsoft.com/office/drawing/2014/main" id="{437910F0-FB59-45D7-B639-BB270775EA8B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2015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4" name="Группа 293">
            <a:extLst>
              <a:ext uri="{FF2B5EF4-FFF2-40B4-BE49-F238E27FC236}">
                <a16:creationId xmlns:a16="http://schemas.microsoft.com/office/drawing/2014/main" id="{A8EC39B2-D3F4-4408-B6C5-96D09932E7AE}"/>
              </a:ext>
            </a:extLst>
          </p:cNvPr>
          <p:cNvGrpSpPr/>
          <p:nvPr/>
        </p:nvGrpSpPr>
        <p:grpSpPr>
          <a:xfrm>
            <a:off x="1212850" y="2568893"/>
            <a:ext cx="2159000" cy="659296"/>
            <a:chOff x="1212850" y="2651741"/>
            <a:chExt cx="2159000" cy="659296"/>
          </a:xfrm>
        </p:grpSpPr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58A01440-CF17-4BEA-AC8B-72CE263F44B2}"/>
                </a:ext>
              </a:extLst>
            </p:cNvPr>
            <p:cNvSpPr txBox="1"/>
            <p:nvPr/>
          </p:nvSpPr>
          <p:spPr>
            <a:xfrm>
              <a:off x="1212850" y="2849372"/>
              <a:ext cx="2159000" cy="46166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В феврале выпущена тестовая версия приложения для малого бизнеса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20E943A-5FFD-4065-884E-D00565012BB6}"/>
                </a:ext>
              </a:extLst>
            </p:cNvPr>
            <p:cNvSpPr txBox="1"/>
            <p:nvPr/>
          </p:nvSpPr>
          <p:spPr>
            <a:xfrm>
              <a:off x="1212850" y="2651741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Приложение для МСБ</a:t>
              </a:r>
            </a:p>
          </p:txBody>
        </p:sp>
      </p:grpSp>
      <p:sp>
        <p:nvSpPr>
          <p:cNvPr id="285" name="Прямоугольник: скругленные углы 284">
            <a:extLst>
              <a:ext uri="{FF2B5EF4-FFF2-40B4-BE49-F238E27FC236}">
                <a16:creationId xmlns:a16="http://schemas.microsoft.com/office/drawing/2014/main" id="{B65D7E3C-6AF3-44CB-9392-72AA826843A8}"/>
              </a:ext>
            </a:extLst>
          </p:cNvPr>
          <p:cNvSpPr/>
          <p:nvPr/>
        </p:nvSpPr>
        <p:spPr>
          <a:xfrm>
            <a:off x="630935" y="256889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6" name="Группа 295">
            <a:extLst>
              <a:ext uri="{FF2B5EF4-FFF2-40B4-BE49-F238E27FC236}">
                <a16:creationId xmlns:a16="http://schemas.microsoft.com/office/drawing/2014/main" id="{25A305C7-BFD0-414B-97E5-CB7621163DD1}"/>
              </a:ext>
            </a:extLst>
          </p:cNvPr>
          <p:cNvGrpSpPr/>
          <p:nvPr/>
        </p:nvGrpSpPr>
        <p:grpSpPr>
          <a:xfrm>
            <a:off x="1212850" y="3433937"/>
            <a:ext cx="2159000" cy="505408"/>
            <a:chOff x="1212850" y="3445745"/>
            <a:chExt cx="2159000" cy="505408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1BEDACA7-F6E4-4E88-A629-06F80FAB0B8A}"/>
                </a:ext>
              </a:extLst>
            </p:cNvPr>
            <p:cNvSpPr txBox="1"/>
            <p:nvPr/>
          </p:nvSpPr>
          <p:spPr>
            <a:xfrm>
              <a:off x="1212850" y="3643376"/>
              <a:ext cx="215900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55% в 2017 г. (290 млн руб.), ещё 35% в 2019 г., эквайринг и онлайн-кассы</a:t>
              </a:r>
              <a:endParaRPr lang="ru-RU" sz="1000" dirty="0">
                <a:solidFill>
                  <a:schemeClr val="tx1">
                    <a:alpha val="50000"/>
                  </a:schemeClr>
                </a:solidFill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3E6DBF9F-547B-4E1A-8084-CED7C813EFA2}"/>
                </a:ext>
              </a:extLst>
            </p:cNvPr>
            <p:cNvSpPr txBox="1"/>
            <p:nvPr/>
          </p:nvSpPr>
          <p:spPr>
            <a:xfrm>
              <a:off x="1212850" y="3445745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Покупка CloudPayments</a:t>
              </a:r>
              <a:endParaRPr lang="ru-RU" sz="1050" b="1" dirty="0"/>
            </a:p>
          </p:txBody>
        </p:sp>
      </p:grpSp>
      <p:sp>
        <p:nvSpPr>
          <p:cNvPr id="286" name="Прямоугольник: скругленные углы 285">
            <a:extLst>
              <a:ext uri="{FF2B5EF4-FFF2-40B4-BE49-F238E27FC236}">
                <a16:creationId xmlns:a16="http://schemas.microsoft.com/office/drawing/2014/main" id="{8CC7AE29-C83C-4821-8DF3-970B7823515D}"/>
              </a:ext>
            </a:extLst>
          </p:cNvPr>
          <p:cNvSpPr/>
          <p:nvPr/>
        </p:nvSpPr>
        <p:spPr>
          <a:xfrm>
            <a:off x="630935" y="343393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2017-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8" name="Группа 297">
            <a:extLst>
              <a:ext uri="{FF2B5EF4-FFF2-40B4-BE49-F238E27FC236}">
                <a16:creationId xmlns:a16="http://schemas.microsoft.com/office/drawing/2014/main" id="{A8519B29-216B-47FA-9AAF-BBA7D912DD5D}"/>
              </a:ext>
            </a:extLst>
          </p:cNvPr>
          <p:cNvGrpSpPr/>
          <p:nvPr/>
        </p:nvGrpSpPr>
        <p:grpSpPr>
          <a:xfrm>
            <a:off x="1212850" y="4856249"/>
            <a:ext cx="2159000" cy="505408"/>
            <a:chOff x="1212850" y="4773403"/>
            <a:chExt cx="2159000" cy="50540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52A2C1BA-2BAC-45B9-A0C5-8CB281482E1A}"/>
                </a:ext>
              </a:extLst>
            </p:cNvPr>
            <p:cNvSpPr txBox="1"/>
            <p:nvPr/>
          </p:nvSpPr>
          <p:spPr>
            <a:xfrm>
              <a:off x="1212850" y="4773403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Ребрендинг в Т-Бизнес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0BB46C9A-44B3-4313-9635-90EC3A43A51C}"/>
                </a:ext>
              </a:extLst>
            </p:cNvPr>
            <p:cNvSpPr txBox="1"/>
            <p:nvPr/>
          </p:nvSpPr>
          <p:spPr>
            <a:xfrm>
              <a:off x="1212850" y="4971034"/>
              <a:ext cx="215900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Единая архитектура бренда «Т-», присоединение Росбанка в III квартале</a:t>
              </a:r>
            </a:p>
          </p:txBody>
        </p:sp>
      </p:grpSp>
      <p:sp>
        <p:nvSpPr>
          <p:cNvPr id="288" name="Прямоугольник: скругленные углы 287">
            <a:extLst>
              <a:ext uri="{FF2B5EF4-FFF2-40B4-BE49-F238E27FC236}">
                <a16:creationId xmlns:a16="http://schemas.microsoft.com/office/drawing/2014/main" id="{825CE4F7-0F64-46B4-B277-E6B355C2FBE9}"/>
              </a:ext>
            </a:extLst>
          </p:cNvPr>
          <p:cNvSpPr/>
          <p:nvPr/>
        </p:nvSpPr>
        <p:spPr>
          <a:xfrm>
            <a:off x="630935" y="485624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2024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7" name="Группа 296">
            <a:extLst>
              <a:ext uri="{FF2B5EF4-FFF2-40B4-BE49-F238E27FC236}">
                <a16:creationId xmlns:a16="http://schemas.microsoft.com/office/drawing/2014/main" id="{C20B9363-CC7D-4FD3-93EC-B4ACF3D27953}"/>
              </a:ext>
            </a:extLst>
          </p:cNvPr>
          <p:cNvGrpSpPr/>
          <p:nvPr/>
        </p:nvGrpSpPr>
        <p:grpSpPr>
          <a:xfrm>
            <a:off x="1212850" y="4145093"/>
            <a:ext cx="2159000" cy="505408"/>
            <a:chOff x="1212850" y="4239749"/>
            <a:chExt cx="2159000" cy="505408"/>
          </a:xfrm>
        </p:grpSpPr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51305A0-F895-4C7E-9E50-797618AE40B2}"/>
                </a:ext>
              </a:extLst>
            </p:cNvPr>
            <p:cNvSpPr txBox="1"/>
            <p:nvPr/>
          </p:nvSpPr>
          <p:spPr>
            <a:xfrm>
              <a:off x="1212850" y="4437380"/>
              <a:ext cx="215900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Бухгалтерия, конструктор сайтов, «Селлер», речевая аналитика и КЭП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99E6A942-AFE4-4564-B4A1-FAC309B88FC9}"/>
                </a:ext>
              </a:extLst>
            </p:cNvPr>
            <p:cNvSpPr txBox="1"/>
            <p:nvPr/>
          </p:nvSpPr>
          <p:spPr>
            <a:xfrm>
              <a:off x="1212850" y="4239749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Собственные сервисы</a:t>
              </a:r>
              <a:endParaRPr lang="ru-RU" sz="1050" b="1" dirty="0"/>
            </a:p>
          </p:txBody>
        </p:sp>
      </p:grpSp>
      <p:sp>
        <p:nvSpPr>
          <p:cNvPr id="290" name="Прямоугольник: скругленные углы 289">
            <a:extLst>
              <a:ext uri="{FF2B5EF4-FFF2-40B4-BE49-F238E27FC236}">
                <a16:creationId xmlns:a16="http://schemas.microsoft.com/office/drawing/2014/main" id="{0B92D436-1000-4558-9AA6-348E400486F6}"/>
              </a:ext>
            </a:extLst>
          </p:cNvPr>
          <p:cNvSpPr/>
          <p:nvPr/>
        </p:nvSpPr>
        <p:spPr>
          <a:xfrm>
            <a:off x="630935" y="4145093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2023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299" name="Группа 298">
            <a:extLst>
              <a:ext uri="{FF2B5EF4-FFF2-40B4-BE49-F238E27FC236}">
                <a16:creationId xmlns:a16="http://schemas.microsoft.com/office/drawing/2014/main" id="{A8E34280-FCDA-493F-9746-FD3DEA9422B6}"/>
              </a:ext>
            </a:extLst>
          </p:cNvPr>
          <p:cNvGrpSpPr/>
          <p:nvPr/>
        </p:nvGrpSpPr>
        <p:grpSpPr>
          <a:xfrm>
            <a:off x="1212850" y="5567407"/>
            <a:ext cx="2159000" cy="505408"/>
            <a:chOff x="1212850" y="5567407"/>
            <a:chExt cx="2159000" cy="505408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A33DCFB1-59C4-4AD4-A542-679A5B9A0949}"/>
                </a:ext>
              </a:extLst>
            </p:cNvPr>
            <p:cNvSpPr txBox="1"/>
            <p:nvPr/>
          </p:nvSpPr>
          <p:spPr>
            <a:xfrm>
              <a:off x="1212850" y="5567407"/>
              <a:ext cx="2159000" cy="16158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50" b="1" dirty="0"/>
                <a:t>Охват без монетизации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22CD053C-14BB-4FD2-BD06-296B7B32C281}"/>
                </a:ext>
              </a:extLst>
            </p:cNvPr>
            <p:cNvSpPr txBox="1"/>
            <p:nvPr/>
          </p:nvSpPr>
          <p:spPr>
            <a:xfrm>
              <a:off x="1212850" y="5765038"/>
              <a:ext cx="215900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>
                  <a:solidFill>
                    <a:schemeClr val="tx1">
                      <a:alpha val="50000"/>
                    </a:schemeClr>
                  </a:solidFill>
                </a:rPr>
                <a:t>14,5% клиентов рынка МСБ при доле 2,1% в средствах бизнеса</a:t>
              </a:r>
            </a:p>
          </p:txBody>
        </p:sp>
      </p:grpSp>
      <p:sp>
        <p:nvSpPr>
          <p:cNvPr id="291" name="Прямоугольник: скругленные углы 290">
            <a:extLst>
              <a:ext uri="{FF2B5EF4-FFF2-40B4-BE49-F238E27FC236}">
                <a16:creationId xmlns:a16="http://schemas.microsoft.com/office/drawing/2014/main" id="{9BC49BD7-F2D3-4D6E-B6C6-F39507485E3D}"/>
              </a:ext>
            </a:extLst>
          </p:cNvPr>
          <p:cNvSpPr/>
          <p:nvPr/>
        </p:nvSpPr>
        <p:spPr>
          <a:xfrm>
            <a:off x="630935" y="556740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2025-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4660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3920" y="3331063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40422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753375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464531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68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2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93" name="Text 14">
            <a:extLst>
              <a:ext uri="{FF2B5EF4-FFF2-40B4-BE49-F238E27FC236}">
                <a16:creationId xmlns:a16="http://schemas.microsoft.com/office/drawing/2014/main" id="{0BA1C54C-F895-41C7-A56B-E578DF2AEAA3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4080312" cy="4320847"/>
          </a:xfrm>
          <a:prstGeom prst="roundRect">
            <a:avLst>
              <a:gd name="adj" fmla="val 2179"/>
            </a:avLst>
          </a:prstGeom>
          <a:gradFill flip="none" rotWithShape="1">
            <a:gsLst>
              <a:gs pos="0">
                <a:srgbClr val="CAE566">
                  <a:alpha val="27000"/>
                </a:srgbClr>
              </a:gs>
              <a:gs pos="100000">
                <a:srgbClr val="CAE566">
                  <a:alpha val="0"/>
                </a:srgbClr>
              </a:gs>
            </a:gsLst>
            <a:lin ang="5400000" scaled="1"/>
            <a:tileRect/>
          </a:gra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endParaRPr lang="ru-RU" sz="1000" dirty="0">
              <a:cs typeface="Arial" panose="020B0604020202020204" pitchFamily="34" charset="0"/>
            </a:endParaRPr>
          </a:p>
        </p:txBody>
      </p: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54735" y="1762125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 err="1"/>
              <a:t>Сбер</a:t>
            </a:r>
            <a:r>
              <a:rPr lang="ru-RU" dirty="0"/>
              <a:t> шёл к нефинансовым сервисам 14 лет: от портала </a:t>
            </a:r>
            <a:br>
              <a:rPr lang="en-US" dirty="0"/>
            </a:br>
            <a:r>
              <a:rPr lang="ru-RU" dirty="0"/>
              <a:t>для предпринимателей до самостоятельного B2B-тех-бизнеса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пресс-релизы и материалы </a:t>
            </a:r>
            <a:r>
              <a:rPr lang="ru-RU" dirty="0" err="1"/>
              <a:t>Сбера</a:t>
            </a:r>
            <a:r>
              <a:rPr lang="ru-RU" dirty="0"/>
              <a:t>, «Интерфакс», РБК, CNews, «Ведомости», ТАСС, ЕГРЮЛ; анализ команды. Показатели по Сбер2В за 2025 г. и текущая витрина </a:t>
            </a:r>
            <a:r>
              <a:rPr lang="ru-RU" dirty="0" err="1"/>
              <a:t>СберБизнеса</a:t>
            </a:r>
            <a:r>
              <a:rPr lang="ru-RU" dirty="0"/>
              <a:t>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303311-4421-4E16-9550-ACF9FBC6DBDA}"/>
              </a:ext>
            </a:extLst>
          </p:cNvPr>
          <p:cNvSpPr txBox="1">
            <a:spLocks/>
          </p:cNvSpPr>
          <p:nvPr/>
        </p:nvSpPr>
        <p:spPr>
          <a:xfrm>
            <a:off x="9962579" y="1949583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latin typeface="+mj-lt"/>
              </a:rPr>
              <a:t>10+</a:t>
            </a:r>
            <a:endParaRPr lang="ru-RU" sz="18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48F671-E760-4A48-A775-AE4BC215949F}"/>
              </a:ext>
            </a:extLst>
          </p:cNvPr>
          <p:cNvSpPr txBox="1">
            <a:spLocks/>
          </p:cNvSpPr>
          <p:nvPr/>
        </p:nvSpPr>
        <p:spPr>
          <a:xfrm>
            <a:off x="9962579" y="2251251"/>
            <a:ext cx="156743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компаний объединено</a:t>
            </a:r>
            <a:r>
              <a:rPr lang="en-US" sz="1000" dirty="0"/>
              <a:t> </a:t>
            </a:r>
            <a:br>
              <a:rPr lang="en-US" sz="1000" dirty="0"/>
            </a:br>
            <a:r>
              <a:rPr lang="ru-RU" sz="1000" dirty="0"/>
              <a:t>в бизнес-группу</a:t>
            </a:r>
            <a:r>
              <a:rPr lang="en-US" sz="1000" dirty="0"/>
              <a:t> </a:t>
            </a:r>
            <a:r>
              <a:rPr lang="ru-RU" sz="1000" dirty="0"/>
              <a:t>Сбер2В, 2026 г.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95B871-3CA5-4E5C-8E9C-E1016FC322FB}"/>
              </a:ext>
            </a:extLst>
          </p:cNvPr>
          <p:cNvSpPr txBox="1">
            <a:spLocks/>
          </p:cNvSpPr>
          <p:nvPr/>
        </p:nvSpPr>
        <p:spPr>
          <a:xfrm>
            <a:off x="9962579" y="2828754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latin typeface="+mj-lt"/>
              </a:rPr>
              <a:t>3,5 </a:t>
            </a:r>
            <a:r>
              <a:rPr lang="ru-RU" sz="1200" b="1" dirty="0">
                <a:latin typeface="+mj-lt"/>
              </a:rPr>
              <a:t>млн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A2C672D-850E-424A-A1CB-CFE8B203FA41}"/>
              </a:ext>
            </a:extLst>
          </p:cNvPr>
          <p:cNvSpPr txBox="1">
            <a:spLocks/>
          </p:cNvSpPr>
          <p:nvPr/>
        </p:nvSpPr>
        <p:spPr>
          <a:xfrm>
            <a:off x="9962579" y="3130422"/>
            <a:ext cx="1567434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активных корпоративных клиентов </a:t>
            </a:r>
            <a:r>
              <a:rPr lang="ru-RU" sz="1000" dirty="0" err="1"/>
              <a:t>Сбера</a:t>
            </a:r>
            <a:r>
              <a:rPr lang="ru-RU" sz="1000" dirty="0"/>
              <a:t>, 2025 г.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0389D0-0280-4D86-A31D-8A2850C2A3C7}"/>
              </a:ext>
            </a:extLst>
          </p:cNvPr>
          <p:cNvSpPr txBox="1">
            <a:spLocks/>
          </p:cNvSpPr>
          <p:nvPr/>
        </p:nvSpPr>
        <p:spPr>
          <a:xfrm>
            <a:off x="9962579" y="3554037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71,4</a:t>
            </a:r>
            <a:r>
              <a:rPr lang="ru-RU" sz="1200" b="1" dirty="0">
                <a:latin typeface="+mj-lt"/>
              </a:rPr>
              <a:t> млрд руб.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D9539BD-EA05-45D8-B231-C9EB9A90845A}"/>
              </a:ext>
            </a:extLst>
          </p:cNvPr>
          <p:cNvSpPr txBox="1">
            <a:spLocks/>
          </p:cNvSpPr>
          <p:nvPr/>
        </p:nvSpPr>
        <p:spPr>
          <a:xfrm>
            <a:off x="9962579" y="3855705"/>
            <a:ext cx="156743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выручка нефинансового бизнеса в 2020 г., рост </a:t>
            </a:r>
            <a:br>
              <a:rPr lang="ru-RU" sz="1000" dirty="0"/>
            </a:br>
            <a:r>
              <a:rPr lang="ru-RU" sz="1000" dirty="0"/>
              <a:t>в 2,7 раза г/г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8912BB6-9958-416C-BC53-744E2AD4F5C9}"/>
              </a:ext>
            </a:extLst>
          </p:cNvPr>
          <p:cNvSpPr txBox="1">
            <a:spLocks/>
          </p:cNvSpPr>
          <p:nvPr/>
        </p:nvSpPr>
        <p:spPr>
          <a:xfrm>
            <a:off x="9962579" y="4433210"/>
            <a:ext cx="1567434" cy="2769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20-30%</a:t>
            </a:r>
            <a:endParaRPr lang="ru-RU" sz="1200" b="1" dirty="0">
              <a:latin typeface="+mj-lt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B489064-840C-4A5E-A31E-34C6AB9DD8B0}"/>
              </a:ext>
            </a:extLst>
          </p:cNvPr>
          <p:cNvSpPr txBox="1">
            <a:spLocks/>
          </p:cNvSpPr>
          <p:nvPr/>
        </p:nvSpPr>
        <p:spPr>
          <a:xfrm>
            <a:off x="9962579" y="4734878"/>
            <a:ext cx="156743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целевая доля </a:t>
            </a:r>
            <a:r>
              <a:rPr lang="ru-RU" sz="1000" dirty="0" err="1"/>
              <a:t>нефинов</a:t>
            </a:r>
            <a:r>
              <a:rPr lang="ru-RU" sz="1000" dirty="0"/>
              <a:t> </a:t>
            </a:r>
            <a:br>
              <a:rPr lang="ru-RU" sz="1000" dirty="0"/>
            </a:br>
            <a:r>
              <a:rPr lang="ru-RU" sz="1000" dirty="0"/>
              <a:t>в </a:t>
            </a:r>
            <a:r>
              <a:rPr lang="ru-RU" sz="1000" dirty="0" err="1"/>
              <a:t>опердоходе</a:t>
            </a:r>
            <a:r>
              <a:rPr lang="ru-RU" sz="1000" dirty="0"/>
              <a:t> группы </a:t>
            </a:r>
            <a:br>
              <a:rPr lang="ru-RU" sz="1000" dirty="0"/>
            </a:br>
            <a:r>
              <a:rPr lang="ru-RU" sz="1000" dirty="0"/>
              <a:t>к 2030 г.</a:t>
            </a:r>
          </a:p>
        </p:txBody>
      </p: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2579" y="2770835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BDB2B1E1-D745-405A-BD6A-0E9B9BE10315}"/>
              </a:ext>
            </a:extLst>
          </p:cNvPr>
          <p:cNvCxnSpPr>
            <a:cxnSpLocks/>
          </p:cNvCxnSpPr>
          <p:nvPr/>
        </p:nvCxnSpPr>
        <p:spPr>
          <a:xfrm>
            <a:off x="9962579" y="3496118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2579" y="4375289"/>
            <a:ext cx="156743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9867901" y="5029200"/>
            <a:ext cx="1767840" cy="1203960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898" b="23741"/>
          <a:stretch>
            <a:fillRect/>
          </a:stretch>
        </p:blipFill>
        <p:spPr>
          <a:xfrm flipH="1">
            <a:off x="10045700" y="4959384"/>
            <a:ext cx="1588516" cy="12737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56038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3920" y="3171532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3782684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393836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004988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27">
            <a:extLst>
              <a:ext uri="{FF2B5EF4-FFF2-40B4-BE49-F238E27FC236}">
                <a16:creationId xmlns:a16="http://schemas.microsoft.com/office/drawing/2014/main" id="{C57A6451-F8C9-4466-8091-A183F0EDC68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611" y="1005616"/>
            <a:ext cx="706509" cy="192850"/>
          </a:xfrm>
          <a:prstGeom prst="rect">
            <a:avLst/>
          </a:prstGeom>
        </p:spPr>
      </p:pic>
      <p:sp>
        <p:nvSpPr>
          <p:cNvPr id="256" name="TextBox 255">
            <a:extLst>
              <a:ext uri="{FF2B5EF4-FFF2-40B4-BE49-F238E27FC236}">
                <a16:creationId xmlns:a16="http://schemas.microsoft.com/office/drawing/2014/main" id="{60EA4617-3B2A-4D7D-9CF8-129676C2E2A5}"/>
              </a:ext>
            </a:extLst>
          </p:cNvPr>
          <p:cNvSpPr txBox="1"/>
          <p:nvPr/>
        </p:nvSpPr>
        <p:spPr>
          <a:xfrm>
            <a:off x="1212850" y="2036318"/>
            <a:ext cx="2159000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Портал знаний и сервисов для МСБ, представленный на ПМЭФ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A809BB-1873-4AB9-A6C1-D02B62140CC8}"/>
              </a:ext>
            </a:extLst>
          </p:cNvPr>
          <p:cNvSpPr txBox="1"/>
          <p:nvPr/>
        </p:nvSpPr>
        <p:spPr>
          <a:xfrm>
            <a:off x="1212850" y="1857737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Запуск «Деловой среды»</a:t>
            </a:r>
          </a:p>
        </p:txBody>
      </p:sp>
      <p:sp>
        <p:nvSpPr>
          <p:cNvPr id="206" name="Прямоугольник: скругленные углы 205">
            <a:extLst>
              <a:ext uri="{FF2B5EF4-FFF2-40B4-BE49-F238E27FC236}">
                <a16:creationId xmlns:a16="http://schemas.microsoft.com/office/drawing/2014/main" id="{F16A580E-40BA-46AE-AD70-89B9E126D885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8A01440-CF17-4BEA-AC8B-72CE263F44B2}"/>
              </a:ext>
            </a:extLst>
          </p:cNvPr>
          <p:cNvSpPr txBox="1"/>
          <p:nvPr/>
        </p:nvSpPr>
        <p:spPr>
          <a:xfrm>
            <a:off x="1212850" y="2801358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ЭДО (СберКорус), бухгалтерия, регистрация бизнеса и кассы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20E943A-5FFD-4065-884E-D00565012BB6}"/>
              </a:ext>
            </a:extLst>
          </p:cNvPr>
          <p:cNvSpPr txBox="1"/>
          <p:nvPr/>
        </p:nvSpPr>
        <p:spPr>
          <a:xfrm>
            <a:off x="1212850" y="2622777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Операционные сервисы</a:t>
            </a:r>
          </a:p>
        </p:txBody>
      </p:sp>
      <p:sp>
        <p:nvSpPr>
          <p:cNvPr id="207" name="Прямоугольник: скругленные углы 206">
            <a:extLst>
              <a:ext uri="{FF2B5EF4-FFF2-40B4-BE49-F238E27FC236}">
                <a16:creationId xmlns:a16="http://schemas.microsoft.com/office/drawing/2014/main" id="{B8F2EF99-9572-4DC9-A9F3-99B6FB751992}"/>
              </a:ext>
            </a:extLst>
          </p:cNvPr>
          <p:cNvSpPr/>
          <p:nvPr/>
        </p:nvSpPr>
        <p:spPr>
          <a:xfrm>
            <a:off x="630935" y="262277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BEDACA7-F6E4-4E88-A629-06F80FAB0B8A}"/>
              </a:ext>
            </a:extLst>
          </p:cNvPr>
          <p:cNvSpPr txBox="1"/>
          <p:nvPr/>
        </p:nvSpPr>
        <p:spPr>
          <a:xfrm>
            <a:off x="1212850" y="3412510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Стратегия до 2023 г., интегрированная экосистема вокруг клиента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E6DBF9F-547B-4E1A-8084-CED7C813EFA2}"/>
              </a:ext>
            </a:extLst>
          </p:cNvPr>
          <p:cNvSpPr txBox="1"/>
          <p:nvPr/>
        </p:nvSpPr>
        <p:spPr>
          <a:xfrm>
            <a:off x="1212850" y="3233929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Единый бренд «</a:t>
            </a:r>
            <a:r>
              <a:rPr lang="ru-RU" sz="1050" b="1" dirty="0" err="1"/>
              <a:t>Сбер</a:t>
            </a:r>
            <a:r>
              <a:rPr lang="ru-RU" sz="1050" b="1" dirty="0"/>
              <a:t>»</a:t>
            </a:r>
          </a:p>
        </p:txBody>
      </p:sp>
      <p:sp>
        <p:nvSpPr>
          <p:cNvPr id="210" name="Прямоугольник: скругленные углы 209">
            <a:extLst>
              <a:ext uri="{FF2B5EF4-FFF2-40B4-BE49-F238E27FC236}">
                <a16:creationId xmlns:a16="http://schemas.microsoft.com/office/drawing/2014/main" id="{2CC7CDC4-87C6-47E5-9884-87190BB400CA}"/>
              </a:ext>
            </a:extLst>
          </p:cNvPr>
          <p:cNvSpPr/>
          <p:nvPr/>
        </p:nvSpPr>
        <p:spPr>
          <a:xfrm>
            <a:off x="630935" y="323392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51305A0-F895-4C7E-9E50-797618AE40B2}"/>
              </a:ext>
            </a:extLst>
          </p:cNvPr>
          <p:cNvSpPr txBox="1"/>
          <p:nvPr/>
        </p:nvSpPr>
        <p:spPr>
          <a:xfrm>
            <a:off x="1212850" y="4023662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71,4 млрд руб. выручки нефинансовых сервисов, B2B — самый доходный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E6A942-AFE4-4564-B4A1-FAC309B88FC9}"/>
              </a:ext>
            </a:extLst>
          </p:cNvPr>
          <p:cNvSpPr txBox="1"/>
          <p:nvPr/>
        </p:nvSpPr>
        <p:spPr>
          <a:xfrm>
            <a:off x="1212850" y="3845081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Первое раскрытие выручки</a:t>
            </a:r>
          </a:p>
        </p:txBody>
      </p:sp>
      <p:sp>
        <p:nvSpPr>
          <p:cNvPr id="215" name="Прямоугольник: скругленные углы 214">
            <a:extLst>
              <a:ext uri="{FF2B5EF4-FFF2-40B4-BE49-F238E27FC236}">
                <a16:creationId xmlns:a16="http://schemas.microsoft.com/office/drawing/2014/main" id="{A4A15548-5400-45A6-883F-5688EEADEC5F}"/>
              </a:ext>
            </a:extLst>
          </p:cNvPr>
          <p:cNvSpPr/>
          <p:nvPr/>
        </p:nvSpPr>
        <p:spPr>
          <a:xfrm>
            <a:off x="630935" y="3845081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21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2A2C1BA-2BAC-45B9-A0C5-8CB281482E1A}"/>
              </a:ext>
            </a:extLst>
          </p:cNvPr>
          <p:cNvSpPr txBox="1"/>
          <p:nvPr/>
        </p:nvSpPr>
        <p:spPr>
          <a:xfrm>
            <a:off x="1212850" y="4456233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Санкции и требования ЦБ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BB46C9A-44B3-4313-9635-90EC3A43A51C}"/>
              </a:ext>
            </a:extLst>
          </p:cNvPr>
          <p:cNvSpPr txBox="1"/>
          <p:nvPr/>
        </p:nvSpPr>
        <p:spPr>
          <a:xfrm>
            <a:off x="1212850" y="4634814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Продажа B2C-активов, разворот в B2B из-за требований ЦБ к активам</a:t>
            </a:r>
          </a:p>
        </p:txBody>
      </p:sp>
      <p:sp>
        <p:nvSpPr>
          <p:cNvPr id="216" name="Прямоугольник: скругленные углы 215">
            <a:extLst>
              <a:ext uri="{FF2B5EF4-FFF2-40B4-BE49-F238E27FC236}">
                <a16:creationId xmlns:a16="http://schemas.microsoft.com/office/drawing/2014/main" id="{EAC1392F-21EF-4891-9F7B-4E67AC1FA602}"/>
              </a:ext>
            </a:extLst>
          </p:cNvPr>
          <p:cNvSpPr/>
          <p:nvPr/>
        </p:nvSpPr>
        <p:spPr>
          <a:xfrm>
            <a:off x="630935" y="445623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33DCFB1-59C4-4AD4-A542-679A5B9A0949}"/>
              </a:ext>
            </a:extLst>
          </p:cNvPr>
          <p:cNvSpPr txBox="1"/>
          <p:nvPr/>
        </p:nvSpPr>
        <p:spPr>
          <a:xfrm>
            <a:off x="1212850" y="5067385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ИИ как бизнес-продукт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2CD053C-14BB-4FD2-BD06-296B7B32C281}"/>
              </a:ext>
            </a:extLst>
          </p:cNvPr>
          <p:cNvSpPr txBox="1"/>
          <p:nvPr/>
        </p:nvSpPr>
        <p:spPr>
          <a:xfrm>
            <a:off x="1212850" y="5245966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 err="1">
                <a:solidFill>
                  <a:schemeClr val="tx1">
                    <a:alpha val="50000"/>
                  </a:schemeClr>
                </a:solidFill>
              </a:rPr>
              <a:t>GigaChat API и GigaChain для бизнеса, стратегия до 2026 г.</a:t>
            </a:r>
          </a:p>
        </p:txBody>
      </p:sp>
      <p:sp>
        <p:nvSpPr>
          <p:cNvPr id="218" name="Прямоугольник: скругленные углы 217">
            <a:extLst>
              <a:ext uri="{FF2B5EF4-FFF2-40B4-BE49-F238E27FC236}">
                <a16:creationId xmlns:a16="http://schemas.microsoft.com/office/drawing/2014/main" id="{2E76D20D-D840-4678-9E6C-A11E8A7CDC0A}"/>
              </a:ext>
            </a:extLst>
          </p:cNvPr>
          <p:cNvSpPr/>
          <p:nvPr/>
        </p:nvSpPr>
        <p:spPr>
          <a:xfrm>
            <a:off x="630935" y="5067385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A7791B3-D344-48CE-A680-826274EEE246}"/>
              </a:ext>
            </a:extLst>
          </p:cNvPr>
          <p:cNvSpPr txBox="1"/>
          <p:nvPr/>
        </p:nvSpPr>
        <p:spPr>
          <a:xfrm>
            <a:off x="1212850" y="5678532"/>
            <a:ext cx="2159000" cy="16158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Выделение Сбер2В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39D3671-1581-40EC-BCED-55E5C2E7EEC4}"/>
              </a:ext>
            </a:extLst>
          </p:cNvPr>
          <p:cNvSpPr txBox="1"/>
          <p:nvPr/>
        </p:nvSpPr>
        <p:spPr>
          <a:xfrm>
            <a:off x="1212850" y="5857113"/>
            <a:ext cx="2159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>
                <a:solidFill>
                  <a:schemeClr val="tx1">
                    <a:alpha val="50000"/>
                  </a:schemeClr>
                </a:solidFill>
              </a:rPr>
              <a:t>Более 10 компаний объединены в отдельную бизнес-группу вне банка</a:t>
            </a:r>
          </a:p>
        </p:txBody>
      </p:sp>
      <p:sp>
        <p:nvSpPr>
          <p:cNvPr id="221" name="Прямоугольник: скругленные углы 220">
            <a:extLst>
              <a:ext uri="{FF2B5EF4-FFF2-40B4-BE49-F238E27FC236}">
                <a16:creationId xmlns:a16="http://schemas.microsoft.com/office/drawing/2014/main" id="{02F787BF-3F1B-4418-8D62-C6A2A6DFED8A}"/>
              </a:ext>
            </a:extLst>
          </p:cNvPr>
          <p:cNvSpPr/>
          <p:nvPr/>
        </p:nvSpPr>
        <p:spPr>
          <a:xfrm>
            <a:off x="630935" y="5678532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26</a:t>
            </a:r>
          </a:p>
        </p:txBody>
      </p:sp>
      <p:cxnSp>
        <p:nvCxnSpPr>
          <p:cNvPr id="223" name="Прямая соединительная линия 222">
            <a:extLst>
              <a:ext uri="{FF2B5EF4-FFF2-40B4-BE49-F238E27FC236}">
                <a16:creationId xmlns:a16="http://schemas.microsoft.com/office/drawing/2014/main" id="{E1E52C49-3BD0-4CCC-982E-16340BCD47E0}"/>
              </a:ext>
            </a:extLst>
          </p:cNvPr>
          <p:cNvCxnSpPr>
            <a:cxnSpLocks/>
          </p:cNvCxnSpPr>
          <p:nvPr/>
        </p:nvCxnSpPr>
        <p:spPr>
          <a:xfrm>
            <a:off x="883920" y="561614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 14">
            <a:extLst>
              <a:ext uri="{FF2B5EF4-FFF2-40B4-BE49-F238E27FC236}">
                <a16:creationId xmlns:a16="http://schemas.microsoft.com/office/drawing/2014/main" id="{D86CF231-5953-4C20-BDA3-C589BEF3B69C}"/>
              </a:ext>
            </a:extLst>
          </p:cNvPr>
          <p:cNvSpPr txBox="1">
            <a:spLocks/>
          </p:cNvSpPr>
          <p:nvPr/>
        </p:nvSpPr>
        <p:spPr>
          <a:xfrm>
            <a:off x="3657508" y="1844041"/>
            <a:ext cx="4080312" cy="340360"/>
          </a:xfrm>
          <a:prstGeom prst="roundRect">
            <a:avLst>
              <a:gd name="adj" fmla="val 26119"/>
            </a:avLst>
          </a:prstGeom>
          <a:solidFill>
            <a:srgbClr val="CAE566">
              <a:alpha val="80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Нефинансовые сервисы для развития бизнеса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800" dirty="0">
                <a:cs typeface="Arial" panose="020B0604020202020204" pitchFamily="34" charset="0"/>
              </a:rPr>
              <a:t>(периметр Сбер2В)</a:t>
            </a:r>
            <a:endParaRPr lang="ru-RU" sz="1000" dirty="0">
              <a:cs typeface="Arial" panose="020B0604020202020204" pitchFamily="34" charset="0"/>
            </a:endParaRPr>
          </a:p>
        </p:txBody>
      </p:sp>
      <p:grpSp>
        <p:nvGrpSpPr>
          <p:cNvPr id="303" name="Группа 302">
            <a:extLst>
              <a:ext uri="{FF2B5EF4-FFF2-40B4-BE49-F238E27FC236}">
                <a16:creationId xmlns:a16="http://schemas.microsoft.com/office/drawing/2014/main" id="{331D0DF2-42EC-49C2-8E8F-CFDE4833DDA7}"/>
              </a:ext>
            </a:extLst>
          </p:cNvPr>
          <p:cNvGrpSpPr>
            <a:grpSpLocks/>
          </p:cNvGrpSpPr>
          <p:nvPr/>
        </p:nvGrpSpPr>
        <p:grpSpPr>
          <a:xfrm>
            <a:off x="7945357" y="2692016"/>
            <a:ext cx="1633596" cy="939319"/>
            <a:chOff x="3696561" y="2140583"/>
            <a:chExt cx="2935824" cy="1688099"/>
          </a:xfrm>
        </p:grpSpPr>
        <p:pic>
          <p:nvPicPr>
            <p:cNvPr id="312" name="Рисунок 311">
              <a:extLst>
                <a:ext uri="{FF2B5EF4-FFF2-40B4-BE49-F238E27FC236}">
                  <a16:creationId xmlns:a16="http://schemas.microsoft.com/office/drawing/2014/main" id="{A2AF8FD0-011A-469F-81CC-4651A5F6C9D7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96561" y="2140583"/>
              <a:ext cx="2935824" cy="1688099"/>
            </a:xfrm>
            <a:prstGeom prst="rect">
              <a:avLst/>
            </a:prstGeom>
          </p:spPr>
        </p:pic>
        <p:sp>
          <p:nvSpPr>
            <p:cNvPr id="314" name="Shape 58">
              <a:extLst>
                <a:ext uri="{FF2B5EF4-FFF2-40B4-BE49-F238E27FC236}">
                  <a16:creationId xmlns:a16="http://schemas.microsoft.com/office/drawing/2014/main" id="{A2859FA7-DBAC-4D77-A149-C6C54F78BC7D}"/>
                </a:ext>
              </a:extLst>
            </p:cNvPr>
            <p:cNvSpPr/>
            <p:nvPr/>
          </p:nvSpPr>
          <p:spPr>
            <a:xfrm>
              <a:off x="4053330" y="2206359"/>
              <a:ext cx="2222287" cy="1439442"/>
            </a:xfrm>
            <a:prstGeom prst="roundRect">
              <a:avLst>
                <a:gd name="adj" fmla="val 2198"/>
              </a:avLst>
            </a:prstGeom>
            <a:solidFill>
              <a:schemeClr val="tx2"/>
            </a:solidFill>
            <a:ln w="9525">
              <a:noFill/>
              <a:prstDash val="dash"/>
            </a:ln>
          </p:spPr>
          <p:txBody>
            <a:bodyPr anchor="ctr"/>
            <a:lstStyle/>
            <a:p>
              <a:pPr marL="0" indent="0" algn="ctr">
                <a:buNone/>
              </a:pPr>
              <a:r>
                <a:rPr lang="ru-RU" sz="800" dirty="0">
                  <a:solidFill>
                    <a:srgbClr val="98A1A7"/>
                  </a:solidFill>
                  <a:ea typeface="Arial" pitchFamily="34" charset="-122"/>
                  <a:cs typeface="Arial" pitchFamily="34" charset="-120"/>
                </a:rPr>
                <a:t>скрин: РКО / кредиты</a:t>
              </a:r>
            </a:p>
          </p:txBody>
        </p: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2C168940-1E46-48F3-8520-E4C28C7CEEE2}"/>
              </a:ext>
            </a:extLst>
          </p:cNvPr>
          <p:cNvSpPr txBox="1">
            <a:spLocks/>
          </p:cNvSpPr>
          <p:nvPr/>
        </p:nvSpPr>
        <p:spPr>
          <a:xfrm>
            <a:off x="7945357" y="3749611"/>
            <a:ext cx="1633597" cy="12311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Банковское ядро</a:t>
            </a:r>
            <a:r>
              <a:rPr lang="en-US" sz="800" dirty="0"/>
              <a:t> </a:t>
            </a:r>
            <a:r>
              <a:rPr lang="ru-RU" sz="800" dirty="0"/>
              <a:t>для бизнеса</a:t>
            </a:r>
          </a:p>
        </p:txBody>
      </p:sp>
      <p:grpSp>
        <p:nvGrpSpPr>
          <p:cNvPr id="302" name="Группа 301">
            <a:extLst>
              <a:ext uri="{FF2B5EF4-FFF2-40B4-BE49-F238E27FC236}">
                <a16:creationId xmlns:a16="http://schemas.microsoft.com/office/drawing/2014/main" id="{36BAFC0D-867E-4918-B573-B983596CED80}"/>
              </a:ext>
            </a:extLst>
          </p:cNvPr>
          <p:cNvGrpSpPr/>
          <p:nvPr/>
        </p:nvGrpSpPr>
        <p:grpSpPr>
          <a:xfrm>
            <a:off x="7945357" y="4245280"/>
            <a:ext cx="1633596" cy="939319"/>
            <a:chOff x="3696561" y="2140583"/>
            <a:chExt cx="2935824" cy="1688099"/>
          </a:xfrm>
        </p:grpSpPr>
        <p:pic>
          <p:nvPicPr>
            <p:cNvPr id="315" name="Рисунок 314">
              <a:extLst>
                <a:ext uri="{FF2B5EF4-FFF2-40B4-BE49-F238E27FC236}">
                  <a16:creationId xmlns:a16="http://schemas.microsoft.com/office/drawing/2014/main" id="{36EA0846-DD41-449A-9BD3-03F52F3E44E3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96561" y="2140583"/>
              <a:ext cx="2935824" cy="1688099"/>
            </a:xfrm>
            <a:prstGeom prst="rect">
              <a:avLst/>
            </a:prstGeom>
          </p:spPr>
        </p:pic>
        <p:sp>
          <p:nvSpPr>
            <p:cNvPr id="316" name="Shape 58">
              <a:extLst>
                <a:ext uri="{FF2B5EF4-FFF2-40B4-BE49-F238E27FC236}">
                  <a16:creationId xmlns:a16="http://schemas.microsoft.com/office/drawing/2014/main" id="{26BB4100-14A1-4D08-9DE3-A67020F95BEB}"/>
                </a:ext>
              </a:extLst>
            </p:cNvPr>
            <p:cNvSpPr/>
            <p:nvPr/>
          </p:nvSpPr>
          <p:spPr>
            <a:xfrm>
              <a:off x="4053330" y="2206359"/>
              <a:ext cx="2222287" cy="1439441"/>
            </a:xfrm>
            <a:prstGeom prst="roundRect">
              <a:avLst>
                <a:gd name="adj" fmla="val 2198"/>
              </a:avLst>
            </a:prstGeom>
            <a:solidFill>
              <a:schemeClr val="tx2"/>
            </a:solidFill>
            <a:ln w="9525">
              <a:noFill/>
              <a:prstDash val="dash"/>
            </a:ln>
          </p:spPr>
          <p:txBody>
            <a:bodyPr anchor="ctr"/>
            <a:lstStyle/>
            <a:p>
              <a:pPr marL="0" indent="0" algn="ctr">
                <a:buNone/>
              </a:pPr>
              <a:r>
                <a:rPr lang="ru-RU" sz="800" dirty="0">
                  <a:solidFill>
                    <a:srgbClr val="98A1A7"/>
                  </a:solidFill>
                  <a:ea typeface="Arial" pitchFamily="34" charset="-122"/>
                  <a:cs typeface="Arial" pitchFamily="34" charset="-120"/>
                </a:rPr>
                <a:t>скрин: витрина мер</a:t>
              </a:r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1F0454DE-F9EC-4D20-B994-1B4D8112CF74}"/>
              </a:ext>
            </a:extLst>
          </p:cNvPr>
          <p:cNvSpPr txBox="1">
            <a:spLocks/>
          </p:cNvSpPr>
          <p:nvPr/>
        </p:nvSpPr>
        <p:spPr>
          <a:xfrm>
            <a:off x="7945358" y="5241320"/>
            <a:ext cx="1633597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Господдержка и льготные</a:t>
            </a:r>
            <a:r>
              <a:rPr lang="en-US" sz="800" dirty="0"/>
              <a:t> </a:t>
            </a:r>
            <a:r>
              <a:rPr lang="ru-RU" sz="800" dirty="0"/>
              <a:t>программы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A219463-B4E4-4A0C-B0AA-61E768692599}"/>
              </a:ext>
            </a:extLst>
          </p:cNvPr>
          <p:cNvGrpSpPr/>
          <p:nvPr/>
        </p:nvGrpSpPr>
        <p:grpSpPr>
          <a:xfrm>
            <a:off x="3928547" y="2234816"/>
            <a:ext cx="1633597" cy="1254146"/>
            <a:chOff x="4693920" y="1837943"/>
            <a:chExt cx="1633597" cy="1254146"/>
          </a:xfrm>
        </p:grpSpPr>
        <p:grpSp>
          <p:nvGrpSpPr>
            <p:cNvPr id="225" name="Группа 224">
              <a:extLst>
                <a:ext uri="{FF2B5EF4-FFF2-40B4-BE49-F238E27FC236}">
                  <a16:creationId xmlns:a16="http://schemas.microsoft.com/office/drawing/2014/main" id="{3158217C-8DCF-45C4-8AD9-B2B8F8DB326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693920" y="1837943"/>
              <a:ext cx="1633596" cy="939318"/>
              <a:chOff x="3696561" y="2140583"/>
              <a:chExt cx="2935824" cy="1688099"/>
            </a:xfrm>
          </p:grpSpPr>
          <p:pic>
            <p:nvPicPr>
              <p:cNvPr id="227" name="Рисунок 226">
                <a:extLst>
                  <a:ext uri="{FF2B5EF4-FFF2-40B4-BE49-F238E27FC236}">
                    <a16:creationId xmlns:a16="http://schemas.microsoft.com/office/drawing/2014/main" id="{20952FE4-486D-4E74-8743-9BC38B24DF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29" name="Shape 58">
                <a:extLst>
                  <a:ext uri="{FF2B5EF4-FFF2-40B4-BE49-F238E27FC236}">
                    <a16:creationId xmlns:a16="http://schemas.microsoft.com/office/drawing/2014/main" id="{5C924508-F76F-4FB8-B128-464368D0287C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</a:t>
                </a:r>
                <a:r>
                  <a:rPr lang="ru-RU" sz="800" dirty="0" err="1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дашборд</a:t>
                </a:r>
                <a:endParaRPr lang="ru-RU" sz="800" dirty="0">
                  <a:solidFill>
                    <a:srgbClr val="98A1A7"/>
                  </a:solidFill>
                  <a:ea typeface="Arial" pitchFamily="34" charset="-122"/>
                  <a:cs typeface="Arial" pitchFamily="34" charset="-120"/>
                </a:endParaRPr>
              </a:p>
            </p:txBody>
          </p:sp>
        </p:grp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068780DD-8C11-4F86-BEC4-C6ACAA421E61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Аналитика больших данных (</a:t>
              </a:r>
              <a:r>
                <a:rPr lang="ru-RU" sz="800" dirty="0" err="1"/>
                <a:t>СберАналитика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46E793-14D9-48D4-B40F-F72755F15D2A}"/>
              </a:ext>
            </a:extLst>
          </p:cNvPr>
          <p:cNvGrpSpPr/>
          <p:nvPr/>
        </p:nvGrpSpPr>
        <p:grpSpPr>
          <a:xfrm>
            <a:off x="3928547" y="3589792"/>
            <a:ext cx="1633597" cy="1242261"/>
            <a:chOff x="4693920" y="3357841"/>
            <a:chExt cx="1633597" cy="1242261"/>
          </a:xfrm>
        </p:grpSpPr>
        <p:grpSp>
          <p:nvGrpSpPr>
            <p:cNvPr id="277" name="Группа 276">
              <a:extLst>
                <a:ext uri="{FF2B5EF4-FFF2-40B4-BE49-F238E27FC236}">
                  <a16:creationId xmlns:a16="http://schemas.microsoft.com/office/drawing/2014/main" id="{61CF4336-008B-403C-B2D9-140D236E141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693920" y="3357841"/>
              <a:ext cx="1633596" cy="939318"/>
              <a:chOff x="3696561" y="2140583"/>
              <a:chExt cx="2935824" cy="1688099"/>
            </a:xfrm>
          </p:grpSpPr>
          <p:pic>
            <p:nvPicPr>
              <p:cNvPr id="281" name="Рисунок 280">
                <a:extLst>
                  <a:ext uri="{FF2B5EF4-FFF2-40B4-BE49-F238E27FC236}">
                    <a16:creationId xmlns:a16="http://schemas.microsoft.com/office/drawing/2014/main" id="{1B209278-435E-4BCF-AA3B-F7989306F1B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82" name="Shape 58">
                <a:extLst>
                  <a:ext uri="{FF2B5EF4-FFF2-40B4-BE49-F238E27FC236}">
                    <a16:creationId xmlns:a16="http://schemas.microsoft.com/office/drawing/2014/main" id="{B9257D59-A6CF-446E-85B5-5BC6F15E115F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чат-ассистент</a:t>
                </a:r>
              </a:p>
            </p:txBody>
          </p:sp>
        </p:grp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5DB08D53-E11D-4215-82B1-AECE0A40C7F7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ИИ-помощник </a:t>
              </a:r>
              <a:br>
                <a:rPr lang="ru-RU" sz="800" dirty="0"/>
              </a:br>
              <a:r>
                <a:rPr lang="ru-RU" sz="800" dirty="0"/>
                <a:t>(«</a:t>
              </a:r>
              <a:r>
                <a:rPr lang="ru-RU" sz="800" dirty="0" err="1"/>
                <a:t>ГигаЧат</a:t>
              </a:r>
              <a:r>
                <a:rPr lang="ru-RU" sz="800" dirty="0"/>
                <a:t> Бизнес»)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5213557-A17C-4DDE-AA67-F22346CB82DA}"/>
              </a:ext>
            </a:extLst>
          </p:cNvPr>
          <p:cNvGrpSpPr/>
          <p:nvPr/>
        </p:nvGrpSpPr>
        <p:grpSpPr>
          <a:xfrm>
            <a:off x="3928547" y="4932883"/>
            <a:ext cx="1633597" cy="1254146"/>
            <a:chOff x="8012975" y="1837943"/>
            <a:chExt cx="1633597" cy="1254146"/>
          </a:xfrm>
        </p:grpSpPr>
        <p:grpSp>
          <p:nvGrpSpPr>
            <p:cNvPr id="238" name="Группа 237">
              <a:extLst>
                <a:ext uri="{FF2B5EF4-FFF2-40B4-BE49-F238E27FC236}">
                  <a16:creationId xmlns:a16="http://schemas.microsoft.com/office/drawing/2014/main" id="{375A5EBE-4D1B-4930-86AF-7F093242A467}"/>
                </a:ext>
              </a:extLst>
            </p:cNvPr>
            <p:cNvGrpSpPr/>
            <p:nvPr/>
          </p:nvGrpSpPr>
          <p:grpSpPr>
            <a:xfrm>
              <a:off x="8012976" y="1837943"/>
              <a:ext cx="1633596" cy="939318"/>
              <a:chOff x="3696561" y="2140583"/>
              <a:chExt cx="2935824" cy="1688099"/>
            </a:xfrm>
          </p:grpSpPr>
          <p:pic>
            <p:nvPicPr>
              <p:cNvPr id="239" name="Рисунок 238">
                <a:extLst>
                  <a:ext uri="{FF2B5EF4-FFF2-40B4-BE49-F238E27FC236}">
                    <a16:creationId xmlns:a16="http://schemas.microsoft.com/office/drawing/2014/main" id="{C3D748B7-290B-4757-ACF3-379F4D5A2A06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40" name="Shape 58">
                <a:extLst>
                  <a:ext uri="{FF2B5EF4-FFF2-40B4-BE49-F238E27FC236}">
                    <a16:creationId xmlns:a16="http://schemas.microsoft.com/office/drawing/2014/main" id="{30C645C9-3F20-44AF-92F7-64EC34AB1E73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сценарий</a:t>
                </a:r>
              </a:p>
            </p:txBody>
          </p:sp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569F62BA-3AC1-4E54-A2B5-59D2D0507890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Автоматизация процессов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</a:t>
              </a:r>
              <a:r>
                <a:rPr lang="ru-RU" sz="800" dirty="0"/>
                <a:t> Бизнес Софт)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F29E87-BE74-4267-B583-C5B84B1D32AB}"/>
              </a:ext>
            </a:extLst>
          </p:cNvPr>
          <p:cNvGrpSpPr/>
          <p:nvPr/>
        </p:nvGrpSpPr>
        <p:grpSpPr>
          <a:xfrm>
            <a:off x="5833183" y="2234816"/>
            <a:ext cx="1633598" cy="1254146"/>
            <a:chOff x="6353448" y="1837943"/>
            <a:chExt cx="1633598" cy="1254146"/>
          </a:xfrm>
        </p:grpSpPr>
        <p:grpSp>
          <p:nvGrpSpPr>
            <p:cNvPr id="230" name="Группа 229">
              <a:extLst>
                <a:ext uri="{FF2B5EF4-FFF2-40B4-BE49-F238E27FC236}">
                  <a16:creationId xmlns:a16="http://schemas.microsoft.com/office/drawing/2014/main" id="{A3CC1E89-9795-4233-AE71-DD303251B677}"/>
                </a:ext>
              </a:extLst>
            </p:cNvPr>
            <p:cNvGrpSpPr/>
            <p:nvPr/>
          </p:nvGrpSpPr>
          <p:grpSpPr>
            <a:xfrm>
              <a:off x="6353448" y="1837943"/>
              <a:ext cx="1633596" cy="939318"/>
              <a:chOff x="3696561" y="2140583"/>
              <a:chExt cx="2935824" cy="1688099"/>
            </a:xfrm>
          </p:grpSpPr>
          <p:pic>
            <p:nvPicPr>
              <p:cNvPr id="232" name="Рисунок 231">
                <a:extLst>
                  <a:ext uri="{FF2B5EF4-FFF2-40B4-BE49-F238E27FC236}">
                    <a16:creationId xmlns:a16="http://schemas.microsoft.com/office/drawing/2014/main" id="{E1CD0A33-9320-4529-8AFB-F14FF7928A2D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37" name="Shape 58">
                <a:extLst>
                  <a:ext uri="{FF2B5EF4-FFF2-40B4-BE49-F238E27FC236}">
                    <a16:creationId xmlns:a16="http://schemas.microsoft.com/office/drawing/2014/main" id="{F7D0A453-E1C1-4602-84FC-B9BFCD3297FF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пакет ЭДО</a:t>
                </a:r>
              </a:p>
            </p:txBody>
          </p:sp>
        </p:grp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3FA90B5A-56E4-4695-98A8-EE5BAC2E5723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ЭДО и документооборот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СберКорус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248286A-4BA8-4F27-924C-1462332D9460}"/>
              </a:ext>
            </a:extLst>
          </p:cNvPr>
          <p:cNvGrpSpPr/>
          <p:nvPr/>
        </p:nvGrpSpPr>
        <p:grpSpPr>
          <a:xfrm>
            <a:off x="5833183" y="3589792"/>
            <a:ext cx="1633598" cy="1242261"/>
            <a:chOff x="6353448" y="3357841"/>
            <a:chExt cx="1633598" cy="1242261"/>
          </a:xfrm>
        </p:grpSpPr>
        <p:grpSp>
          <p:nvGrpSpPr>
            <p:cNvPr id="275" name="Группа 274">
              <a:extLst>
                <a:ext uri="{FF2B5EF4-FFF2-40B4-BE49-F238E27FC236}">
                  <a16:creationId xmlns:a16="http://schemas.microsoft.com/office/drawing/2014/main" id="{D43767FA-4E90-4B00-B37A-281393CD3E02}"/>
                </a:ext>
              </a:extLst>
            </p:cNvPr>
            <p:cNvGrpSpPr/>
            <p:nvPr/>
          </p:nvGrpSpPr>
          <p:grpSpPr>
            <a:xfrm>
              <a:off x="6353448" y="3357841"/>
              <a:ext cx="1633596" cy="939318"/>
              <a:chOff x="3696561" y="2140583"/>
              <a:chExt cx="2935824" cy="1688099"/>
            </a:xfrm>
          </p:grpSpPr>
          <p:pic>
            <p:nvPicPr>
              <p:cNvPr id="283" name="Рисунок 282">
                <a:extLst>
                  <a:ext uri="{FF2B5EF4-FFF2-40B4-BE49-F238E27FC236}">
                    <a16:creationId xmlns:a16="http://schemas.microsoft.com/office/drawing/2014/main" id="{2DEB301C-63CB-4609-BE73-D4B74CE711BD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87" name="Shape 58">
                <a:extLst>
                  <a:ext uri="{FF2B5EF4-FFF2-40B4-BE49-F238E27FC236}">
                    <a16:creationId xmlns:a16="http://schemas.microsoft.com/office/drawing/2014/main" id="{EBD0FFC9-91F0-4B00-B234-42D7BECBD42F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витрина </a:t>
                </a:r>
                <a:r>
                  <a:rPr lang="ru-RU" sz="800" dirty="0" err="1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селлера</a:t>
                </a:r>
                <a:endParaRPr lang="ru-RU" sz="800" dirty="0">
                  <a:solidFill>
                    <a:srgbClr val="98A1A7"/>
                  </a:solidFill>
                  <a:ea typeface="Arial" pitchFamily="34" charset="-122"/>
                  <a:cs typeface="Arial" pitchFamily="34" charset="-120"/>
                </a:endParaRPr>
              </a:p>
            </p:txBody>
          </p:sp>
        </p:grp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88939180-C42B-4C33-B7FE-1E44933D615B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Решения для </a:t>
              </a:r>
              <a:r>
                <a:rPr lang="ru-RU" sz="800" dirty="0" err="1"/>
                <a:t>селлеров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en-US" sz="800" dirty="0" err="1"/>
                <a:t>inSales</a:t>
              </a:r>
              <a:r>
                <a:rPr lang="en-US" sz="800" dirty="0"/>
                <a:t>)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C035B28-3E90-4A07-871E-BA89D610669F}"/>
              </a:ext>
            </a:extLst>
          </p:cNvPr>
          <p:cNvGrpSpPr/>
          <p:nvPr/>
        </p:nvGrpSpPr>
        <p:grpSpPr>
          <a:xfrm>
            <a:off x="5833183" y="4944768"/>
            <a:ext cx="1633597" cy="1242261"/>
            <a:chOff x="8012975" y="3357841"/>
            <a:chExt cx="1633597" cy="1242261"/>
          </a:xfrm>
        </p:grpSpPr>
        <p:grpSp>
          <p:nvGrpSpPr>
            <p:cNvPr id="278" name="Группа 277">
              <a:extLst>
                <a:ext uri="{FF2B5EF4-FFF2-40B4-BE49-F238E27FC236}">
                  <a16:creationId xmlns:a16="http://schemas.microsoft.com/office/drawing/2014/main" id="{D9031454-740A-4EA5-BA7C-3EDD15199491}"/>
                </a:ext>
              </a:extLst>
            </p:cNvPr>
            <p:cNvGrpSpPr/>
            <p:nvPr/>
          </p:nvGrpSpPr>
          <p:grpSpPr>
            <a:xfrm>
              <a:off x="8012976" y="3357841"/>
              <a:ext cx="1633596" cy="939318"/>
              <a:chOff x="3696561" y="2140583"/>
              <a:chExt cx="2935824" cy="1688099"/>
            </a:xfrm>
          </p:grpSpPr>
          <p:pic>
            <p:nvPicPr>
              <p:cNvPr id="279" name="Рисунок 278">
                <a:extLst>
                  <a:ext uri="{FF2B5EF4-FFF2-40B4-BE49-F238E27FC236}">
                    <a16:creationId xmlns:a16="http://schemas.microsoft.com/office/drawing/2014/main" id="{1743991E-1BC1-49CE-91B0-6620FCA41548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6561" y="2140583"/>
                <a:ext cx="2935824" cy="1688099"/>
              </a:xfrm>
              <a:prstGeom prst="rect">
                <a:avLst/>
              </a:prstGeom>
            </p:spPr>
          </p:pic>
          <p:sp>
            <p:nvSpPr>
              <p:cNvPr id="280" name="Shape 58">
                <a:extLst>
                  <a:ext uri="{FF2B5EF4-FFF2-40B4-BE49-F238E27FC236}">
                    <a16:creationId xmlns:a16="http://schemas.microsoft.com/office/drawing/2014/main" id="{B46F904F-B30F-4C8B-B129-1198AE4BDAE6}"/>
                  </a:ext>
                </a:extLst>
              </p:cNvPr>
              <p:cNvSpPr/>
              <p:nvPr/>
            </p:nvSpPr>
            <p:spPr>
              <a:xfrm>
                <a:off x="4053330" y="2206359"/>
                <a:ext cx="2222287" cy="1439442"/>
              </a:xfrm>
              <a:prstGeom prst="roundRect">
                <a:avLst>
                  <a:gd name="adj" fmla="val 2198"/>
                </a:avLst>
              </a:prstGeom>
              <a:solidFill>
                <a:schemeClr val="tx2"/>
              </a:solidFill>
              <a:ln w="9525">
                <a:noFill/>
                <a:prstDash val="dash"/>
              </a:ln>
            </p:spPr>
            <p:txBody>
              <a:bodyPr anchor="ctr"/>
              <a:lstStyle/>
              <a:p>
                <a:pPr marL="0" indent="0" algn="ctr">
                  <a:buNone/>
                </a:pPr>
                <a:r>
                  <a:rPr lang="ru-RU" sz="800" dirty="0">
                    <a:solidFill>
                      <a:srgbClr val="98A1A7"/>
                    </a:solidFill>
                    <a:ea typeface="Arial" pitchFamily="34" charset="-122"/>
                    <a:cs typeface="Arial" pitchFamily="34" charset="-120"/>
                  </a:rPr>
                  <a:t>скрин: курс/трек</a:t>
                </a:r>
              </a:p>
            </p:txBody>
          </p:sp>
        </p:grp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DB10EFF-D4BD-41EE-8CD8-52F23FB5D61F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Обучение и сообщество</a:t>
              </a:r>
              <a:br>
                <a:rPr lang="ru-RU" sz="800" dirty="0"/>
              </a:br>
              <a:r>
                <a:rPr lang="ru-RU" sz="800" dirty="0"/>
                <a:t>(«Деловая среда»)</a:t>
              </a:r>
            </a:p>
          </p:txBody>
        </p:sp>
      </p:grpSp>
      <p:cxnSp>
        <p:nvCxnSpPr>
          <p:cNvPr id="317" name="Прямая соединительная линия 316">
            <a:extLst>
              <a:ext uri="{FF2B5EF4-FFF2-40B4-BE49-F238E27FC236}">
                <a16:creationId xmlns:a16="http://schemas.microsoft.com/office/drawing/2014/main" id="{9F095D03-9875-4867-AD9F-668165007C63}"/>
              </a:ext>
            </a:extLst>
          </p:cNvPr>
          <p:cNvCxnSpPr>
            <a:cxnSpLocks/>
          </p:cNvCxnSpPr>
          <p:nvPr/>
        </p:nvCxnSpPr>
        <p:spPr>
          <a:xfrm>
            <a:off x="3787972" y="4882468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Прямая соединительная линия 317">
            <a:extLst>
              <a:ext uri="{FF2B5EF4-FFF2-40B4-BE49-F238E27FC236}">
                <a16:creationId xmlns:a16="http://schemas.microsoft.com/office/drawing/2014/main" id="{60EDAFF7-0939-483E-88D1-A43B65282ED4}"/>
              </a:ext>
            </a:extLst>
          </p:cNvPr>
          <p:cNvCxnSpPr>
            <a:cxnSpLocks/>
          </p:cNvCxnSpPr>
          <p:nvPr/>
        </p:nvCxnSpPr>
        <p:spPr>
          <a:xfrm>
            <a:off x="3787972" y="3539377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076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UNDODONOTDELETE" val="0"/>
  <p:tag name="TEMPLATELASTEDITED" val="2025-04-07 11:31 "/>
  <p:tag name="BULLETPOINTACTIVEGAP" val="0"/>
  <p:tag name="THINKCELLPRESENTATIONDONOTDELETE" val="&lt;?xml version=&quot;1.0&quot; encoding=&quot;UTF-16&quot; standalone=&quot;yes&quot;?&gt;&lt;root reqver=&quot;32687&quot;&gt;&lt;version val=&quot;101019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00&quot; g=&quot;37&quot; b=&quot;91&quot;/&gt;&lt;/elem&gt;&lt;elem m_fUsage=&quot;9.00000000000000022204E-01&quot;&gt;&lt;m_msothmcolidx val=&quot;0&quot;/&gt;&lt;m_rgb r=&quot;E4&quot; g=&quot;E4&quot; b=&quot;E4&quot;/&gt;&lt;/elem&gt;&lt;elem m_fUsage=&quot;8.10000000000000053291E-01&quot;&gt;&lt;m_msothmcolidx val=&quot;0&quot;/&gt;&lt;m_rgb r=&quot;20&quot; g=&quot;4F&quot; b=&quot;EE&quot;/&gt;&lt;/elem&gt;&lt;elem m_fUsage=&quot;7.29000000000000092371E-01&quot;&gt;&lt;m_msothmcolidx val=&quot;0&quot;/&gt;&lt;m_rgb r=&quot;00&quot; g=&quot;DA&quot; b=&quot;C5&quot;/&gt;&lt;/elem&gt;&lt;elem m_fUsage=&quot;6.56100000000000127542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m_eweeknumbering val=&quot;1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2.xml><?xml version="1.0" encoding="utf-8"?>
<a:theme xmlns:a="http://schemas.openxmlformats.org/drawingml/2006/main" name="1_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(2024_UPD-07.04.25) (1)</Template>
  <TotalTime>23491</TotalTime>
  <Words>611</Words>
  <Application>Microsoft Office PowerPoint</Application>
  <PresentationFormat>Widescreen</PresentationFormat>
  <Paragraphs>95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Segoe UI</vt:lpstr>
      <vt:lpstr>Verdana</vt:lpstr>
      <vt:lpstr>Wingdings</vt:lpstr>
      <vt:lpstr>Альфа_16x9 (2024_UPD-07.04.25)</vt:lpstr>
      <vt:lpstr>1_Альфа_16x9 (2024_UPD-07.04.25)</vt:lpstr>
      <vt:lpstr>think-cell Slide</vt:lpstr>
      <vt:lpstr>Т-Банк строил не портфель бизнесов, а один продукт: нефины встроены в приложение и работают на привлечение клиента</vt:lpstr>
      <vt:lpstr>Сбер шёл к нефинансовым сервисам 14 лет: от портала  для предпринимателей до самостоятельного B2B-тех-бизнеса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of the document</dc:title>
  <dc:subject/>
  <dc:creator>Kirill Kovalenko</dc:creator>
  <cp:keywords/>
  <dc:description/>
  <cp:lastModifiedBy>Gleb Istrashkin</cp:lastModifiedBy>
  <cp:revision>898</cp:revision>
  <cp:lastPrinted>2018-10-30T20:37:12Z</cp:lastPrinted>
  <dcterms:created xsi:type="dcterms:W3CDTF">2026-08-06T06:14:36Z</dcterms:created>
  <dcterms:modified xsi:type="dcterms:W3CDTF">2026-09-07T09:17:41Z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2025-04-07 11:31 </vt:lpwstr>
  </property>
  <property fmtid="{D5CDD505-2E9C-101B-9397-08002B2CF9AE}" pid="8" name="TemplateCreated">
    <vt:lpwstr>2019-02-27 01:18 PM</vt:lpwstr>
  </property>
</Properties>
</file>