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86" r:id="rId2"/>
  </p:sldIdLst>
  <p:sldSz cx="12192000" cy="6858000"/>
  <p:notesSz cx="6797675" cy="9872663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A281CB-42B2-4B57-81C8-1FB703C3EDE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D0D0"/>
    <a:srgbClr val="B3B3B3"/>
    <a:srgbClr val="FFFFFF"/>
    <a:srgbClr val="F5F5F5"/>
    <a:srgbClr val="DBDEDF"/>
    <a:srgbClr val="D9D9D6"/>
    <a:srgbClr val="E5DBF4"/>
    <a:srgbClr val="4D5456"/>
    <a:srgbClr val="484F5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6586" autoAdjust="0"/>
  </p:normalViewPr>
  <p:slideViewPr>
    <p:cSldViewPr snapToGrid="0" snapToObjects="1">
      <p:cViewPr varScale="1">
        <p:scale>
          <a:sx n="63" d="100"/>
          <a:sy n="63" d="100"/>
        </p:scale>
        <p:origin x="740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59" d="100"/>
        <a:sy n="59" d="100"/>
      </p:scale>
      <p:origin x="0" y="-4440"/>
    </p:cViewPr>
  </p:sorterViewPr>
  <p:notesViewPr>
    <p:cSldViewPr snapToGrid="0" snapToObjects="1">
      <p:cViewPr>
        <p:scale>
          <a:sx n="75" d="100"/>
          <a:sy n="75" d="100"/>
        </p:scale>
        <p:origin x="2808" y="-19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tags" Target="tags/tag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13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092" y="0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8529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092" y="9378529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7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7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ru-RU" smtClean="0"/>
              <a:pPr/>
              <a:t>02/09/26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592138"/>
            <a:ext cx="5921375" cy="3332162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6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6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2FEA09E-B533-4D4E-953A-87FE39076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3469" y="4751031"/>
            <a:ext cx="5390736" cy="10002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300"/>
      </a:spcBef>
      <a:spcAft>
        <a:spcPts val="3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44000" indent="-144000" algn="l" defTabSz="914400" rtl="0" eaLnBrk="1" latinLnBrk="0" hangingPunct="1">
      <a:spcAft>
        <a:spcPts val="300"/>
      </a:spcAft>
      <a:buSzPct val="110000"/>
      <a:buFont typeface="Wingdings" panose="05000000000000000000" pitchFamily="2" charset="2"/>
      <a:buChar char="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SzPct val="110000"/>
      <a:buFont typeface="Arial" panose="020B0604020202020204" pitchFamily="34" charset="0"/>
      <a:buChar char="‒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SzPct val="100000"/>
      <a:buFont typeface="Arial" panose="020B0604020202020204" pitchFamily="34" charset="0"/>
      <a:buChar char="•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Font typeface="Arial" panose="020B0604020202020204" pitchFamily="34" charset="0"/>
      <a:buChar char="̶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692834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735013" y="563563"/>
            <a:ext cx="5632450" cy="3168650"/>
          </a:xfrm>
        </p:spPr>
      </p:sp>
      <p:sp>
        <p:nvSpPr>
          <p:cNvPr id="14178847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NZ"/>
          </a:p>
        </p:txBody>
      </p:sp>
      <p:sp>
        <p:nvSpPr>
          <p:cNvPr id="185886441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554046E-C113-0841-A79D-DD33F5999F50}" type="slidenum">
              <a:rPr lang="fr-FR" sz="12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"/>
                <a:ea typeface="Arial"/>
                <a:cs typeface="Arial"/>
              </a:rPr>
              <a:t>1</a:t>
            </a:fld>
            <a:endParaRPr lang="fr-FR" sz="1200" b="0" i="0" u="none" strike="noStrike" cap="none" spc="0">
              <a:ln>
                <a:noFill/>
              </a:ln>
              <a:solidFill>
                <a:prstClr val="black"/>
              </a:solidFill>
              <a:latin typeface="Calibri"/>
              <a:ea typeface="+mn-ea"/>
              <a:cs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26.xml"/><Relationship Id="rId3" Type="http://schemas.openxmlformats.org/officeDocument/2006/relationships/tags" Target="../tags/tag27.xml"/><Relationship Id="rId4" Type="http://schemas.openxmlformats.org/officeDocument/2006/relationships/tags" Target="../tags/tag28.xml"/><Relationship Id="rId5" Type="http://schemas.openxmlformats.org/officeDocument/2006/relationships/tags" Target="../tags/tag29.xml"/><Relationship Id="rId6" Type="http://schemas.openxmlformats.org/officeDocument/2006/relationships/tags" Target="../tags/tag3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4.emf"/><Relationship Id="rId10" Type="http://schemas.openxmlformats.org/officeDocument/2006/relationships/image" Target="../media/image5.jpg"/><Relationship Id="rId11" Type="http://schemas.openxmlformats.org/officeDocument/2006/relationships/image" Target="../media/image2.png"/><Relationship Id="rId12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tags" Target="../tags/tag34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3.bin"/><Relationship Id="rId8" Type="http://schemas.openxmlformats.org/officeDocument/2006/relationships/image" Target="../media/image4.emf"/><Relationship Id="rId9" Type="http://schemas.openxmlformats.org/officeDocument/2006/relationships/image" Target="../media/image6.jpg"/><Relationship Id="rId10" Type="http://schemas.openxmlformats.org/officeDocument/2006/relationships/image" Target="../media/image2.png"/><Relationship Id="rId11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4.emf"/><Relationship Id="rId10" Type="http://schemas.openxmlformats.org/officeDocument/2006/relationships/image" Target="../media/image7.jpg"/><Relationship Id="rId11" Type="http://schemas.openxmlformats.org/officeDocument/2006/relationships/image" Target="../media/image2.png"/><Relationship Id="rId1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tags" Target="../tags/tag46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47.xml"/><Relationship Id="rId3" Type="http://schemas.openxmlformats.org/officeDocument/2006/relationships/tags" Target="../tags/tag48.xml"/><Relationship Id="rId4" Type="http://schemas.openxmlformats.org/officeDocument/2006/relationships/tags" Target="../tags/tag49.xml"/><Relationship Id="rId5" Type="http://schemas.openxmlformats.org/officeDocument/2006/relationships/tags" Target="../tags/tag50.xml"/><Relationship Id="rId6" Type="http://schemas.openxmlformats.org/officeDocument/2006/relationships/tags" Target="../tags/tag51.xml"/><Relationship Id="rId7" Type="http://schemas.openxmlformats.org/officeDocument/2006/relationships/tags" Target="../tags/tag52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Relationship Id="rId6" Type="http://schemas.openxmlformats.org/officeDocument/2006/relationships/tags" Target="../tags/tag57.xml"/><Relationship Id="rId7" Type="http://schemas.openxmlformats.org/officeDocument/2006/relationships/tags" Target="../tags/tag58.xml"/><Relationship Id="rId8" Type="http://schemas.openxmlformats.org/officeDocument/2006/relationships/tags" Target="../tags/tag5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7.bin"/><Relationship Id="rId11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tags" Target="../tags/tag64.xml"/><Relationship Id="rId7" Type="http://schemas.openxmlformats.org/officeDocument/2006/relationships/tags" Target="../tags/tag65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8.bin"/><Relationship Id="rId10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66.xml"/><Relationship Id="rId3" Type="http://schemas.openxmlformats.org/officeDocument/2006/relationships/tags" Target="../tags/tag67.xml"/><Relationship Id="rId4" Type="http://schemas.openxmlformats.org/officeDocument/2006/relationships/tags" Target="../tags/tag68.xml"/><Relationship Id="rId5" Type="http://schemas.openxmlformats.org/officeDocument/2006/relationships/tags" Target="../tags/tag69.xml"/><Relationship Id="rId6" Type="http://schemas.openxmlformats.org/officeDocument/2006/relationships/tags" Target="../tags/tag7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9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Relationship Id="rId1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0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Relationship Id="rId12" Type="http://schemas.openxmlformats.org/officeDocument/2006/relationships/image" Target="../media/image7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76.xml"/><Relationship Id="rId3" Type="http://schemas.openxmlformats.org/officeDocument/2006/relationships/tags" Target="../tags/tag77.xml"/><Relationship Id="rId4" Type="http://schemas.openxmlformats.org/officeDocument/2006/relationships/tags" Target="../tags/tag78.xml"/><Relationship Id="rId5" Type="http://schemas.openxmlformats.org/officeDocument/2006/relationships/tags" Target="../tags/tag79.xml"/><Relationship Id="rId6" Type="http://schemas.openxmlformats.org/officeDocument/2006/relationships/tags" Target="../tags/tag80.xml"/><Relationship Id="rId7" Type="http://schemas.openxmlformats.org/officeDocument/2006/relationships/tags" Target="../tags/tag81.xml"/><Relationship Id="rId8" Type="http://schemas.openxmlformats.org/officeDocument/2006/relationships/tags" Target="../tags/tag82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1.bin"/><Relationship Id="rId11" Type="http://schemas.openxmlformats.org/officeDocument/2006/relationships/image" Target="../media/image4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83.xml"/><Relationship Id="rId3" Type="http://schemas.openxmlformats.org/officeDocument/2006/relationships/tags" Target="../tags/tag84.xml"/><Relationship Id="rId4" Type="http://schemas.openxmlformats.org/officeDocument/2006/relationships/tags" Target="../tags/tag85.xml"/><Relationship Id="rId5" Type="http://schemas.openxmlformats.org/officeDocument/2006/relationships/tags" Target="../tags/tag86.xml"/><Relationship Id="rId6" Type="http://schemas.openxmlformats.org/officeDocument/2006/relationships/tags" Target="../tags/tag87.xml"/><Relationship Id="rId7" Type="http://schemas.openxmlformats.org/officeDocument/2006/relationships/tags" Target="../tags/tag88.xml"/><Relationship Id="rId8" Type="http://schemas.openxmlformats.org/officeDocument/2006/relationships/tags" Target="../tags/tag89.xml"/><Relationship Id="rId9" Type="http://schemas.openxmlformats.org/officeDocument/2006/relationships/tags" Target="../tags/tag90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2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3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4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07.xml"/><Relationship Id="rId3" Type="http://schemas.openxmlformats.org/officeDocument/2006/relationships/tags" Target="../tags/tag108.xml"/><Relationship Id="rId4" Type="http://schemas.openxmlformats.org/officeDocument/2006/relationships/tags" Target="../tags/tag109.xml"/><Relationship Id="rId5" Type="http://schemas.openxmlformats.org/officeDocument/2006/relationships/tags" Target="../tags/tag110.xml"/><Relationship Id="rId6" Type="http://schemas.openxmlformats.org/officeDocument/2006/relationships/tags" Target="../tags/tag111.xml"/><Relationship Id="rId7" Type="http://schemas.openxmlformats.org/officeDocument/2006/relationships/tags" Target="../tags/tag112.xml"/><Relationship Id="rId8" Type="http://schemas.openxmlformats.org/officeDocument/2006/relationships/tags" Target="../tags/tag113.xml"/><Relationship Id="rId9" Type="http://schemas.openxmlformats.org/officeDocument/2006/relationships/tags" Target="../tags/tag11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5.bin"/><Relationship Id="rId12" Type="http://schemas.openxmlformats.org/officeDocument/2006/relationships/image" Target="../media/image10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tags" Target="../tags/tag118.xml"/><Relationship Id="rId6" Type="http://schemas.openxmlformats.org/officeDocument/2006/relationships/tags" Target="../tags/tag119.xml"/><Relationship Id="rId7" Type="http://schemas.openxmlformats.org/officeDocument/2006/relationships/tags" Target="../tags/tag120.xml"/><Relationship Id="rId8" Type="http://schemas.openxmlformats.org/officeDocument/2006/relationships/tags" Target="../tags/tag121.xml"/><Relationship Id="rId9" Type="http://schemas.openxmlformats.org/officeDocument/2006/relationships/tags" Target="../tags/tag122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23.xml"/><Relationship Id="rId3" Type="http://schemas.openxmlformats.org/officeDocument/2006/relationships/tags" Target="../tags/tag124.xml"/><Relationship Id="rId4" Type="http://schemas.openxmlformats.org/officeDocument/2006/relationships/tags" Target="../tags/tag125.xml"/><Relationship Id="rId5" Type="http://schemas.openxmlformats.org/officeDocument/2006/relationships/tags" Target="../tags/tag126.xml"/><Relationship Id="rId6" Type="http://schemas.openxmlformats.org/officeDocument/2006/relationships/tags" Target="../tags/tag127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7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2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4.emf"/><Relationship Id="rId6" Type="http://schemas.openxmlformats.org/officeDocument/2006/relationships/image" Target="../media/image11.png"/><Relationship Id="rId7" Type="http://schemas.openxmlformats.org/officeDocument/2006/relationships/image" Target="../media/image1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868842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970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7287" r="36892"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705012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0732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240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27611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175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49726"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0239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701967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69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53401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8687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43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551027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2780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6148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183673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3804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475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05413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82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7287" r="36892"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632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963669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85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49726"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8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876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975223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90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703695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849153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92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6929100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49306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994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605467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786177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972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9113909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09593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996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4708615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4192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3020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19059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4044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Contrast 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57482734" name="Object 2"/>
          <p:cNvGraphicFramePr>
            <a:graphicFrameLocks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960" name="think-cell Slide" r:id="rId3" imgW="0" imgH="0" progId="TCLayout.ActiveDocument.1">
                  <p:embed/>
                </p:oleObj>
              </mc:Choice>
              <mc:Fallback>
                <p:oleObj name="think-cell Slide" r:id="rId3" imgW="0" imgH="0" progId="TCLayout.ActiveDocument.1">
                  <p:embed/>
                  <p:pic>
                    <p:nvPicPr>
                      <p:cNvPr id="657482734" name="Object 2"/>
                      <p:cNvPicPr/>
                      <p:nvPr/>
                    </p:nvPicPr>
                    <p:blipFill rotWithShape="1">
                      <a:blip r:embed="rId4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549727" name="Rectangle 1" hidden="1"/>
          <p:cNvSpPr/>
          <p:nvPr userDrawn="1"/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2500" b="1" i="0">
              <a:solidFill>
                <a:schemeClr val="bg1"/>
              </a:solidFill>
              <a:latin typeface="Georgia"/>
              <a:ea typeface="Arial"/>
              <a:cs typeface="Arial"/>
            </a:endParaRPr>
          </a:p>
        </p:txBody>
      </p:sp>
      <p:sp>
        <p:nvSpPr>
          <p:cNvPr id="659837750" name="Slide Number"/>
          <p:cNvSpPr>
            <a:spLocks noChangeArrowheads="1"/>
          </p:cNvSpPr>
          <p:nvPr userDrawn="1"/>
        </p:nvSpPr>
        <p:spPr bwMode="black">
          <a:xfrm>
            <a:off x="11312525" y="6498754"/>
            <a:ext cx="325500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>
                <a:solidFill>
                  <a:schemeClr val="tx1"/>
                </a:solidFill>
                <a:latin typeface="Arial"/>
                <a:ea typeface="Arial"/>
                <a:cs typeface="Arial"/>
              </a:rPr>
              <a:t>‹#›</a:t>
            </a:fld>
            <a:endParaRPr lang="en-US" sz="90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934351" name="5. Source" hidden="1"/>
          <p:cNvSpPr txBox="1"/>
          <p:nvPr userDrawn="1"/>
        </p:nvSpPr>
        <p:spPr bwMode="auto">
          <a:xfrm>
            <a:off x="554735" y="6501668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900">
                <a:cs typeface="Arial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/>
              <a:buChar char=""/>
              <a:defRPr sz="1600">
                <a:cs typeface="Arial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—"/>
              <a:defRPr sz="1600">
                <a:cs typeface="Arial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»"/>
              <a:defRPr sz="1600">
                <a:cs typeface="Arial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›"/>
              <a:defRPr sz="1600">
                <a:cs typeface="Arial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defRPr/>
            </a:pPr>
            <a:r>
              <a:rPr lang="en-US" sz="800"/>
              <a:t>Source: …</a:t>
            </a:r>
            <a:endParaRPr/>
          </a:p>
        </p:txBody>
      </p:sp>
      <p:sp>
        <p:nvSpPr>
          <p:cNvPr id="1795054822" name="2. Slide Title"/>
          <p:cNvSpPr>
            <a:spLocks noGrp="1"/>
          </p:cNvSpPr>
          <p:nvPr>
            <p:ph type="title"/>
          </p:nvPr>
        </p:nvSpPr>
        <p:spPr bwMode="auto">
          <a:xfrm>
            <a:off x="554736" y="182372"/>
            <a:ext cx="11082528" cy="73152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940370203" name="3. Subtitle"/>
          <p:cNvSpPr>
            <a:spLocks noGrp="1"/>
          </p:cNvSpPr>
          <p:nvPr>
            <p:ph type="subTitle" idx="1"/>
          </p:nvPr>
        </p:nvSpPr>
        <p:spPr bwMode="auto">
          <a:xfrm>
            <a:off x="554736" y="903861"/>
            <a:ext cx="11082528" cy="276999"/>
          </a:xfrm>
        </p:spPr>
        <p:txBody>
          <a:bodyPr anchor="ctr" anchorCtr="0"/>
          <a:lstStyle/>
          <a:p>
            <a:pPr>
              <a:defRPr/>
            </a:pPr>
            <a:r>
              <a:rPr lang="en-US" sz="1600"/>
              <a:t>Click to edit Master subtitle style</a:t>
            </a:r>
            <a:endParaRPr/>
          </a:p>
        </p:txBody>
      </p:sp>
      <p:sp>
        <p:nvSpPr>
          <p:cNvPr id="822994881" name="1. On-page tracker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>
              <a:defRPr/>
            </a:pPr>
            <a:r>
              <a:rPr lang="en-US"/>
              <a:t>Chapter › Topic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414339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vmlDrawing" Target="../drawings/vmlDrawing1.vml"/><Relationship Id="rId21" Type="http://schemas.openxmlformats.org/officeDocument/2006/relationships/tags" Target="../tags/tag2.xml"/><Relationship Id="rId22" Type="http://schemas.openxmlformats.org/officeDocument/2006/relationships/tags" Target="../tags/tag3.xml"/><Relationship Id="rId23" Type="http://schemas.openxmlformats.org/officeDocument/2006/relationships/tags" Target="../tags/tag4.xml"/><Relationship Id="rId24" Type="http://schemas.openxmlformats.org/officeDocument/2006/relationships/tags" Target="../tags/tag5.xml"/><Relationship Id="rId25" Type="http://schemas.openxmlformats.org/officeDocument/2006/relationships/tags" Target="../tags/tag6.xml"/><Relationship Id="rId26" Type="http://schemas.openxmlformats.org/officeDocument/2006/relationships/tags" Target="../tags/tag7.xml"/><Relationship Id="rId27" Type="http://schemas.openxmlformats.org/officeDocument/2006/relationships/tags" Target="../tags/tag8.xml"/><Relationship Id="rId28" Type="http://schemas.openxmlformats.org/officeDocument/2006/relationships/tags" Target="../tags/tag9.xml"/><Relationship Id="rId29" Type="http://schemas.openxmlformats.org/officeDocument/2006/relationships/tags" Target="../tags/tag10.xml"/><Relationship Id="rId30" Type="http://schemas.openxmlformats.org/officeDocument/2006/relationships/tags" Target="../tags/tag11.xml"/><Relationship Id="rId31" Type="http://schemas.openxmlformats.org/officeDocument/2006/relationships/tags" Target="../tags/tag12.xml"/><Relationship Id="rId32" Type="http://schemas.openxmlformats.org/officeDocument/2006/relationships/tags" Target="../tags/tag13.xml"/><Relationship Id="rId33" Type="http://schemas.openxmlformats.org/officeDocument/2006/relationships/tags" Target="../tags/tag14.xml"/><Relationship Id="rId34" Type="http://schemas.openxmlformats.org/officeDocument/2006/relationships/tags" Target="../tags/tag15.xml"/><Relationship Id="rId35" Type="http://schemas.openxmlformats.org/officeDocument/2006/relationships/tags" Target="../tags/tag16.xml"/><Relationship Id="rId36" Type="http://schemas.openxmlformats.org/officeDocument/2006/relationships/tags" Target="../tags/tag17.xml"/><Relationship Id="rId37" Type="http://schemas.openxmlformats.org/officeDocument/2006/relationships/tags" Target="../tags/tag18.xml"/><Relationship Id="rId38" Type="http://schemas.openxmlformats.org/officeDocument/2006/relationships/tags" Target="../tags/tag19.xml"/><Relationship Id="rId39" Type="http://schemas.openxmlformats.org/officeDocument/2006/relationships/tags" Target="../tags/tag20.xml"/><Relationship Id="rId40" Type="http://schemas.openxmlformats.org/officeDocument/2006/relationships/tags" Target="../tags/tag21.xml"/><Relationship Id="rId41" Type="http://schemas.openxmlformats.org/officeDocument/2006/relationships/tags" Target="../tags/tag22.xml"/><Relationship Id="rId42" Type="http://schemas.openxmlformats.org/officeDocument/2006/relationships/tags" Target="../tags/tag23.xml"/><Relationship Id="rId43" Type="http://schemas.openxmlformats.org/officeDocument/2006/relationships/tags" Target="../tags/tag24.xml"/><Relationship Id="rId44" Type="http://schemas.openxmlformats.org/officeDocument/2006/relationships/tags" Target="../tags/tag25.xml"/><Relationship Id="rId45" Type="http://schemas.openxmlformats.org/officeDocument/2006/relationships/oleObject" Target="../embeddings/oleObject1.bin"/><Relationship Id="rId46" Type="http://schemas.openxmlformats.org/officeDocument/2006/relationships/image" Target="../media/image1.emf"/><Relationship Id="rId47" Type="http://schemas.openxmlformats.org/officeDocument/2006/relationships/image" Target="../media/image2.png"/><Relationship Id="rId48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315790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669" name="think-cell Slide" r:id="rId45" imgW="413" imgH="416" progId="TCLayout.ActiveDocument.1">
                  <p:embed/>
                </p:oleObj>
              </mc:Choice>
              <mc:Fallback>
                <p:oleObj name="think-cell Slide" r:id="rId45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2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3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4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5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27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28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29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0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1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2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4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889" r:id="rId2"/>
    <p:sldLayoutId id="2147483890" r:id="rId3"/>
    <p:sldLayoutId id="2147483654" r:id="rId4"/>
    <p:sldLayoutId id="2147483883" r:id="rId5"/>
    <p:sldLayoutId id="2147483885" r:id="rId6"/>
    <p:sldLayoutId id="2147483892" r:id="rId7"/>
    <p:sldLayoutId id="2147483893" r:id="rId8"/>
    <p:sldLayoutId id="2147483659" r:id="rId9"/>
    <p:sldLayoutId id="2147483804" r:id="rId10"/>
    <p:sldLayoutId id="2147483860" r:id="rId11"/>
    <p:sldLayoutId id="2147483856" r:id="rId12"/>
    <p:sldLayoutId id="2147483805" r:id="rId13"/>
    <p:sldLayoutId id="2147483806" r:id="rId14"/>
    <p:sldLayoutId id="2147483882" r:id="rId15"/>
    <p:sldLayoutId id="2147483706" r:id="rId16"/>
    <p:sldLayoutId id="2147483718" r:id="rId17"/>
    <p:sldLayoutId id="2147483894" r:id="rId1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 userDrawn="1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12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4.jpeg"/><Relationship Id="rId6" Type="http://schemas.openxmlformats.org/officeDocument/2006/relationships/image" Target="../media/image15.png"/><Relationship Id="rId7" Type="http://schemas.openxmlformats.org/officeDocument/2006/relationships/image" Target="../media/image3.svg"/><Relationship Id="rId8" Type="http://schemas.openxmlformats.org/officeDocument/2006/relationships/oleObject" Target="../embeddings/oleObject20.bin"/><Relationship Id="rId9" Type="http://schemas.openxmlformats.org/officeDocument/2006/relationships/image" Target="../media/image13.emf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" name="Группа 172">
            <a:extLst>
              <a:ext uri="{FF2B5EF4-FFF2-40B4-BE49-F238E27FC236}">
                <a16:creationId xmlns:a16="http://schemas.microsoft.com/office/drawing/2014/main" id="{AD86AEC5-0E3C-467D-84C8-0CA90F672CA7}"/>
              </a:ext>
            </a:extLst>
          </p:cNvPr>
          <p:cNvGrpSpPr/>
          <p:nvPr/>
        </p:nvGrpSpPr>
        <p:grpSpPr>
          <a:xfrm flipH="1">
            <a:off x="0" y="0"/>
            <a:ext cx="12192000" cy="6854825"/>
            <a:chOff x="0" y="3176"/>
            <a:chExt cx="12192000" cy="6854825"/>
          </a:xfrm>
        </p:grpSpPr>
        <p:sp>
          <p:nvSpPr>
            <p:cNvPr id="174" name="Прямоугольник 173">
              <a:extLst>
                <a:ext uri="{FF2B5EF4-FFF2-40B4-BE49-F238E27FC236}">
                  <a16:creationId xmlns:a16="http://schemas.microsoft.com/office/drawing/2014/main" id="{1AE3C905-2F8A-4AFA-831D-5322BD5DC2D0}"/>
                </a:ext>
              </a:extLst>
            </p:cNvPr>
            <p:cNvSpPr/>
            <p:nvPr/>
          </p:nvSpPr>
          <p:spPr>
            <a:xfrm>
              <a:off x="0" y="3176"/>
              <a:ext cx="12192000" cy="6854824"/>
            </a:xfrm>
            <a:prstGeom prst="rect">
              <a:avLst/>
            </a:prstGeom>
            <a:solidFill>
              <a:srgbClr val="F5F5F5"/>
            </a:solidFill>
            <a:ln w="6350" cap="flat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175" name="Группа 174">
              <a:extLst>
                <a:ext uri="{FF2B5EF4-FFF2-40B4-BE49-F238E27FC236}">
                  <a16:creationId xmlns:a16="http://schemas.microsoft.com/office/drawing/2014/main" id="{707D0F04-643F-4F10-9393-EE17F7D3D74E}"/>
                </a:ext>
              </a:extLst>
            </p:cNvPr>
            <p:cNvGrpSpPr/>
            <p:nvPr/>
          </p:nvGrpSpPr>
          <p:grpSpPr>
            <a:xfrm>
              <a:off x="0" y="1671979"/>
              <a:ext cx="8666480" cy="5186022"/>
              <a:chOff x="0" y="2693375"/>
              <a:chExt cx="6959600" cy="4164625"/>
            </a:xfrm>
          </p:grpSpPr>
          <p:pic>
            <p:nvPicPr>
              <p:cNvPr id="176" name="Рисунок 175">
                <a:extLst>
                  <a:ext uri="{FF2B5EF4-FFF2-40B4-BE49-F238E27FC236}">
                    <a16:creationId xmlns:a16="http://schemas.microsoft.com/office/drawing/2014/main" id="{9D6CC19F-00D4-4B4E-ABF7-A628349389FB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5" cstate="print">
                <a:grayscl/>
                <a:alphaModFix amt="6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0" y="2693375"/>
                <a:ext cx="6959600" cy="4164625"/>
              </a:xfrm>
              <a:prstGeom prst="rect">
                <a:avLst/>
              </a:prstGeom>
            </p:spPr>
          </p:pic>
          <p:sp>
            <p:nvSpPr>
              <p:cNvPr id="177" name="Прямоугольник 176">
                <a:extLst>
                  <a:ext uri="{FF2B5EF4-FFF2-40B4-BE49-F238E27FC236}">
                    <a16:creationId xmlns:a16="http://schemas.microsoft.com/office/drawing/2014/main" id="{A51A79BD-1B71-4B8A-B877-D74D2380697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181600" y="2693375"/>
                <a:ext cx="1778000" cy="4164625"/>
              </a:xfrm>
              <a:prstGeom prst="rect">
                <a:avLst/>
              </a:prstGeom>
              <a:gradFill flip="none" rotWithShape="1">
                <a:gsLst>
                  <a:gs pos="0">
                    <a:srgbClr val="F5F5F5">
                      <a:alpha val="0"/>
                    </a:srgbClr>
                  </a:gs>
                  <a:gs pos="100000">
                    <a:srgbClr val="F5F5F5"/>
                  </a:gs>
                </a:gsLst>
                <a:lin ang="0" scaled="1"/>
                <a:tileRect/>
              </a:gradFill>
              <a:ln w="6350" cap="flat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178" name="Slide Number">
            <a:extLst>
              <a:ext uri="{FF2B5EF4-FFF2-40B4-BE49-F238E27FC236}">
                <a16:creationId xmlns:a16="http://schemas.microsoft.com/office/drawing/2014/main" id="{EC5587FD-E9E5-4868-ACA0-F30B2E4F6EB7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1762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1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79" name="Рисунок 178">
            <a:extLst>
              <a:ext uri="{FF2B5EF4-FFF2-40B4-BE49-F238E27FC236}">
                <a16:creationId xmlns:a16="http://schemas.microsoft.com/office/drawing/2014/main" id="{6F6ECABF-9072-491C-8203-AE1FD9700AA0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11191495" y="226624"/>
            <a:ext cx="445768" cy="677108"/>
          </a:xfrm>
          <a:prstGeom prst="rect">
            <a:avLst/>
          </a:prstGeom>
        </p:spPr>
      </p:pic>
      <p:graphicFrame>
        <p:nvGraphicFramePr>
          <p:cNvPr id="694154129" name="Object 2" hidden="1"/>
          <p:cNvGraphicFramePr>
            <a:graphicFrameLocks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1021" name="think-cell Slide" r:id="rId8" imgW="0" imgH="0" progId="TCLayout.ActiveDocument.1">
                  <p:embed/>
                </p:oleObj>
              </mc:Choice>
              <mc:Fallback>
                <p:oleObj name="think-cell Slide" r:id="rId8" imgW="0" imgH="0" progId="TCLayout.ActiveDocument.1">
                  <p:embed/>
                  <p:pic>
                    <p:nvPicPr>
                      <p:cNvPr id="694154129" name="Object 2" hidden="1"/>
                      <p:cNvPicPr/>
                      <p:nvPr/>
                    </p:nvPicPr>
                    <p:blipFill rotWithShape="1">
                      <a:blip r:embed="rId9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6755285" name="Freeform: Shape 3200"/>
          <p:cNvSpPr/>
          <p:nvPr/>
        </p:nvSpPr>
        <p:spPr bwMode="auto">
          <a:xfrm rot="16199999" flipV="1">
            <a:off x="-153853" y="4877136"/>
            <a:ext cx="162350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405826179" name="2. Slide Title"/>
          <p:cNvSpPr>
            <a:spLocks noGrp="1"/>
          </p:cNvSpPr>
          <p:nvPr>
            <p:ph type="title"/>
          </p:nvPr>
        </p:nvSpPr>
        <p:spPr bwMode="auto">
          <a:xfrm>
            <a:off x="554735" y="274320"/>
            <a:ext cx="10402821" cy="64008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rIns="0" anchor="b" anchorCtr="0">
            <a:spAutoFit/>
          </a:bodyPr>
          <a:lstStyle/>
          <a:p>
            <a:pPr>
              <a:defRPr/>
            </a:pPr>
            <a:r>
              <a:rPr lang="en-US" dirty="0" sz="2200"/>
              <a:t>Целевой процесс по данным: от заказа на источник до цифрового профиля и мониторинга</a:t>
            </a:r>
            <a:endParaRPr lang="en-NZ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D4A7EF-3009-413C-910F-1BF3862DC6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98713104" name="Freeform: Shape 35"/>
          <p:cNvSpPr/>
          <p:nvPr/>
        </p:nvSpPr>
        <p:spPr bwMode="auto">
          <a:xfrm rot="16199999">
            <a:off x="109535" y="1481816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68899" name="Freeform: Shape 25"/>
          <p:cNvSpPr/>
          <p:nvPr/>
        </p:nvSpPr>
        <p:spPr bwMode="auto">
          <a:xfrm rot="16199999" flipV="1">
            <a:off x="-373511" y="3070168"/>
            <a:ext cx="2062822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504914131" name="Freeform: Shape 18"/>
          <p:cNvSpPr/>
          <p:nvPr/>
        </p:nvSpPr>
        <p:spPr bwMode="auto">
          <a:xfrm rot="5400000">
            <a:off x="814316" y="5625803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090678393" name="Rectangle 34"/>
          <p:cNvSpPr/>
          <p:nvPr/>
        </p:nvSpPr>
        <p:spPr bwMode="auto">
          <a:xfrm>
            <a:off x="8236083" y="1485900"/>
            <a:ext cx="3401180" cy="4965192"/>
          </a:xfrm>
          <a:prstGeom prst="roundRect">
            <a:avLst>
              <a:gd name="adj" fmla="val 3897"/>
            </a:avLst>
          </a:prstGeom>
          <a:solidFill>
            <a:schemeClr val="bg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NZ" sz="900">
              <a:solidFill>
                <a:schemeClr val="bg1"/>
              </a:solidFill>
            </a:endParaRPr>
          </a:p>
        </p:txBody>
      </p:sp>
      <p:sp>
        <p:nvSpPr>
          <p:cNvPr id="1194372367" name="Freeform: Shape 38"/>
          <p:cNvSpPr/>
          <p:nvPr/>
        </p:nvSpPr>
        <p:spPr bwMode="auto">
          <a:xfrm rot="5657795">
            <a:off x="7816514" y="1281876"/>
            <a:ext cx="866087" cy="434437"/>
          </a:xfrm>
          <a:custGeom>
            <a:avLst/>
            <a:gdLst>
              <a:gd name="connsiteX0" fmla="*/ 859304 w 859303"/>
              <a:gd name="connsiteY0" fmla="*/ -49 h 859304"/>
              <a:gd name="connsiteX1" fmla="*/ 0 w 859303"/>
              <a:gd name="connsiteY1" fmla="*/ 859256 h 859304"/>
              <a:gd name="connsiteX0" fmla="*/ 1540918 w 1540918"/>
              <a:gd name="connsiteY0" fmla="*/ 200367 h 214710"/>
              <a:gd name="connsiteX1" fmla="*/ 0 w 1540918"/>
              <a:gd name="connsiteY1" fmla="*/ 214710 h 214710"/>
              <a:gd name="connsiteX0" fmla="*/ 1535600 w 1535600"/>
              <a:gd name="connsiteY0" fmla="*/ 252714 h 252714"/>
              <a:gd name="connsiteX1" fmla="*/ 0 w 1535600"/>
              <a:gd name="connsiteY1" fmla="*/ 197507 h 252714"/>
              <a:gd name="connsiteX0" fmla="*/ 1649746 w 1649746"/>
              <a:gd name="connsiteY0" fmla="*/ 277715 h 277715"/>
              <a:gd name="connsiteX1" fmla="*/ 0 w 1649746"/>
              <a:gd name="connsiteY1" fmla="*/ 190461 h 277715"/>
              <a:gd name="connsiteX0" fmla="*/ 1580195 w 1580195"/>
              <a:gd name="connsiteY0" fmla="*/ 273533 h 273533"/>
              <a:gd name="connsiteX1" fmla="*/ 0 w 1580195"/>
              <a:gd name="connsiteY1" fmla="*/ 191597 h 273533"/>
              <a:gd name="connsiteX0" fmla="*/ 1620766 w 1620766"/>
              <a:gd name="connsiteY0" fmla="*/ 275970 h 275970"/>
              <a:gd name="connsiteX1" fmla="*/ 0 w 1620766"/>
              <a:gd name="connsiteY1" fmla="*/ 190932 h 275970"/>
              <a:gd name="connsiteX0" fmla="*/ 1585991 w 1585991"/>
              <a:gd name="connsiteY0" fmla="*/ 273881 h 273881"/>
              <a:gd name="connsiteX1" fmla="*/ 0 w 1585991"/>
              <a:gd name="connsiteY1" fmla="*/ 191502 h 273881"/>
              <a:gd name="connsiteX0" fmla="*/ 1102249 w 1102249"/>
              <a:gd name="connsiteY0" fmla="*/ 208016 h 211953"/>
              <a:gd name="connsiteX1" fmla="*/ 0 w 1102249"/>
              <a:gd name="connsiteY1" fmla="*/ 211953 h 211953"/>
              <a:gd name="connsiteX0" fmla="*/ 1102249 w 1102249"/>
              <a:gd name="connsiteY0" fmla="*/ 0 h 97783"/>
              <a:gd name="connsiteX1" fmla="*/ 0 w 1102249"/>
              <a:gd name="connsiteY1" fmla="*/ 3937 h 97783"/>
              <a:gd name="connsiteX0" fmla="*/ 951970 w 951970"/>
              <a:gd name="connsiteY0" fmla="*/ 378537 h 378537"/>
              <a:gd name="connsiteX1" fmla="*/ 0 w 951970"/>
              <a:gd name="connsiteY1" fmla="*/ 0 h 378537"/>
              <a:gd name="connsiteX0" fmla="*/ 951970 w 951970"/>
              <a:gd name="connsiteY0" fmla="*/ 378537 h 397687"/>
              <a:gd name="connsiteX1" fmla="*/ 0 w 951970"/>
              <a:gd name="connsiteY1" fmla="*/ 0 h 397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970" h="397687" extrusionOk="0">
                <a:moveTo>
                  <a:pt x="951970" y="378537"/>
                </a:moveTo>
                <a:cubicBezTo>
                  <a:pt x="477395" y="378537"/>
                  <a:pt x="62312" y="526475"/>
                  <a:pt x="0" y="0"/>
                </a:cubicBezTo>
              </a:path>
            </a:pathLst>
          </a:custGeom>
          <a:noFill/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0" i="0" u="none" strike="noStrike" cap="none" spc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9582805" name="Freeform: Shape 44"/>
          <p:cNvSpPr/>
          <p:nvPr/>
        </p:nvSpPr>
        <p:spPr bwMode="auto">
          <a:xfrm flipV="1">
            <a:off x="8260080" y="1544392"/>
            <a:ext cx="3931920" cy="315951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1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800" b="0" i="0" u="none" strike="noStrike" cap="none" spc="0">
              <a:ln>
                <a:noFill/>
              </a:ln>
              <a:solidFill>
                <a:srgbClr val="000000"/>
              </a:solidFill>
              <a:ea typeface="Arial"/>
              <a:cs typeface="Arial"/>
            </a:endParaRPr>
          </a:p>
        </p:txBody>
      </p:sp>
      <p:sp>
        <p:nvSpPr>
          <p:cNvPr id="243269618" name="Freeform: Shape 3095"/>
          <p:cNvSpPr/>
          <p:nvPr/>
        </p:nvSpPr>
        <p:spPr bwMode="auto">
          <a:xfrm rot="5400000" flipH="1">
            <a:off x="5203528" y="1751057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440469830" name="Freeform: Shape 3097"/>
          <p:cNvSpPr/>
          <p:nvPr/>
        </p:nvSpPr>
        <p:spPr bwMode="auto">
          <a:xfrm rot="5400000" flipH="1" flipV="1">
            <a:off x="4282676" y="3145586"/>
            <a:ext cx="171513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383958979" name="Freeform: Shape 3098"/>
          <p:cNvSpPr/>
          <p:nvPr/>
        </p:nvSpPr>
        <p:spPr bwMode="auto">
          <a:xfrm rot="16199999" flipH="1">
            <a:off x="4496841" y="5625804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31764788" name="Freeform: Shape 3197"/>
          <p:cNvSpPr/>
          <p:nvPr/>
        </p:nvSpPr>
        <p:spPr bwMode="auto">
          <a:xfrm flipV="1">
            <a:off x="1396365" y="6130570"/>
            <a:ext cx="301561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342834304" name="Freeform: Shape 3199"/>
          <p:cNvSpPr/>
          <p:nvPr/>
        </p:nvSpPr>
        <p:spPr bwMode="auto">
          <a:xfrm flipV="1">
            <a:off x="5776468" y="1544390"/>
            <a:ext cx="2740787" cy="315951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800" b="0" i="0" u="none" strike="noStrike" cap="none" spc="0">
              <a:ln>
                <a:noFill/>
              </a:ln>
              <a:solidFill>
                <a:srgbClr val="000000"/>
              </a:solidFill>
              <a:ea typeface="Arial"/>
              <a:cs typeface="Arial"/>
            </a:endParaRPr>
          </a:p>
        </p:txBody>
      </p:sp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B65E3C84-DF00-4115-9AF4-D25B3329DEBA}"/>
              </a:ext>
            </a:extLst>
          </p:cNvPr>
          <p:cNvGrpSpPr/>
          <p:nvPr/>
        </p:nvGrpSpPr>
        <p:grpSpPr>
          <a:xfrm>
            <a:off x="5530850" y="4471864"/>
            <a:ext cx="2528980" cy="207265"/>
            <a:chOff x="5530850" y="4597141"/>
            <a:chExt cx="2528980" cy="207265"/>
          </a:xfrm>
        </p:grpSpPr>
        <p:cxnSp>
          <p:nvCxnSpPr>
            <p:cNvPr id="2070985308" name="GreyLineSeparatorDefault 3092"/>
            <p:cNvCxnSpPr>
              <a:cxnSpLocks/>
            </p:cNvCxnSpPr>
            <p:nvPr/>
          </p:nvCxnSpPr>
          <p:spPr bwMode="auto">
            <a:xfrm>
              <a:off x="5530850" y="4804406"/>
              <a:ext cx="2528980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4319944" name="TextBox 3196"/>
            <p:cNvSpPr txBox="1">
              <a:spLocks/>
            </p:cNvSpPr>
            <p:nvPr/>
          </p:nvSpPr>
          <p:spPr bwMode="auto">
            <a:xfrm>
              <a:off x="5530850" y="4597141"/>
              <a:ext cx="2528980" cy="153888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NZ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Тест и бизнес-кейс</a:t>
              </a:r>
              <a:endParaRPr dirty="0">
                <a:latin typeface="+mj-lt"/>
              </a:endParaRPr>
            </a:p>
          </p:txBody>
        </p:sp>
      </p:grpSp>
      <p:sp>
        <p:nvSpPr>
          <p:cNvPr id="1749497712" name="TextBox 3175"/>
          <p:cNvSpPr txBox="1">
            <a:spLocks/>
          </p:cNvSpPr>
          <p:nvPr/>
        </p:nvSpPr>
        <p:spPr bwMode="auto">
          <a:xfrm>
            <a:off x="5530850" y="2099576"/>
            <a:ext cx="2528980" cy="307777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1600">
                <a:cs typeface="Arial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/>
              <a:buChar char=""/>
              <a:defRPr sz="1600">
                <a:cs typeface="Arial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—"/>
              <a:defRPr sz="1600">
                <a:cs typeface="Arial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»"/>
              <a:defRPr sz="1600">
                <a:cs typeface="Arial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/>
              <a:buChar char="›"/>
              <a:defRPr sz="1600">
                <a:cs typeface="Arial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 typeface="Segoe UI"/>
              <a:buChar char="​"/>
              <a:defRPr/>
            </a:pPr>
            <a:r>
              <a:rPr lang="en-US" sz="1000" b="1" i="0" u="none" strike="noStrike" cap="none" spc="0" dirty="0">
                <a:ln>
                  <a:noFill/>
                </a:ln>
                <a:latin typeface="+mj-lt"/>
                <a:ea typeface="Arial"/>
                <a:cs typeface="Arial"/>
              </a:rPr>
              <a:t>Подключение и каталог</a:t>
            </a:r>
            <a:endParaRPr dirty="0">
              <a:latin typeface="+mj-lt"/>
            </a:endParaRPr>
          </a:p>
        </p:txBody>
      </p:sp>
      <p:cxnSp>
        <p:nvCxnSpPr>
          <p:cNvPr id="1572910986" name="GreyLineSeparatorDefault 3092"/>
          <p:cNvCxnSpPr>
            <a:cxnSpLocks/>
          </p:cNvCxnSpPr>
          <p:nvPr/>
        </p:nvCxnSpPr>
        <p:spPr bwMode="auto">
          <a:xfrm>
            <a:off x="5530850" y="2460730"/>
            <a:ext cx="2528980" cy="0"/>
          </a:xfrm>
          <a:prstGeom prst="straightConnector1">
            <a:avLst/>
          </a:prstGeom>
          <a:ln w="12700" cap="flat">
            <a:solidFill>
              <a:schemeClr val="accent2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Группа 59">
            <a:extLst>
              <a:ext uri="{FF2B5EF4-FFF2-40B4-BE49-F238E27FC236}">
                <a16:creationId xmlns:a16="http://schemas.microsoft.com/office/drawing/2014/main" id="{FEF15937-9EF9-422A-9BAA-F5007AB17D23}"/>
              </a:ext>
            </a:extLst>
          </p:cNvPr>
          <p:cNvGrpSpPr/>
          <p:nvPr/>
        </p:nvGrpSpPr>
        <p:grpSpPr>
          <a:xfrm>
            <a:off x="1290654" y="1585500"/>
            <a:ext cx="3360595" cy="207265"/>
            <a:chOff x="1290654" y="1585500"/>
            <a:chExt cx="3360595" cy="207265"/>
          </a:xfrm>
        </p:grpSpPr>
        <p:sp>
          <p:nvSpPr>
            <p:cNvPr id="1287337297" name="TextBox 8"/>
            <p:cNvSpPr txBox="1"/>
            <p:nvPr/>
          </p:nvSpPr>
          <p:spPr bwMode="auto">
            <a:xfrm>
              <a:off x="1290654" y="1585500"/>
              <a:ext cx="3360595" cy="153888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US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Заказ на данные</a:t>
              </a:r>
              <a:endParaRPr dirty="0">
                <a:latin typeface="+mj-lt"/>
              </a:endParaRPr>
            </a:p>
          </p:txBody>
        </p:sp>
        <p:cxnSp>
          <p:nvCxnSpPr>
            <p:cNvPr id="773170997" name="GreyLineSeparatorDefault 3092"/>
            <p:cNvCxnSpPr/>
            <p:nvPr/>
          </p:nvCxnSpPr>
          <p:spPr bwMode="auto">
            <a:xfrm>
              <a:off x="1290654" y="1792765"/>
              <a:ext cx="3360595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DC9F6301-6FC1-4D04-98D9-10E4C7E995B2}"/>
              </a:ext>
            </a:extLst>
          </p:cNvPr>
          <p:cNvGrpSpPr/>
          <p:nvPr/>
        </p:nvGrpSpPr>
        <p:grpSpPr>
          <a:xfrm>
            <a:off x="1290654" y="4057815"/>
            <a:ext cx="3360595" cy="207265"/>
            <a:chOff x="1290654" y="4129825"/>
            <a:chExt cx="3360595" cy="207265"/>
          </a:xfrm>
        </p:grpSpPr>
        <p:cxnSp>
          <p:nvCxnSpPr>
            <p:cNvPr id="1573490777" name="GreyLineSeparatorDefault 3092"/>
            <p:cNvCxnSpPr/>
            <p:nvPr/>
          </p:nvCxnSpPr>
          <p:spPr bwMode="auto">
            <a:xfrm>
              <a:off x="1290654" y="4337090"/>
              <a:ext cx="3360595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6954786" name="TextBox 61"/>
            <p:cNvSpPr txBox="1"/>
            <p:nvPr/>
          </p:nvSpPr>
          <p:spPr bwMode="auto">
            <a:xfrm>
              <a:off x="1290654" y="4129825"/>
              <a:ext cx="3360595" cy="153888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NZ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Согласия и правовое основание</a:t>
              </a:r>
              <a:endParaRPr dirty="0">
                <a:latin typeface="+mj-lt"/>
              </a:endParaRPr>
            </a:p>
          </p:txBody>
        </p:sp>
      </p:grpSp>
      <p:sp>
        <p:nvSpPr>
          <p:cNvPr id="672629539" name="Freeform: Shape 3251"/>
          <p:cNvSpPr/>
          <p:nvPr/>
        </p:nvSpPr>
        <p:spPr bwMode="auto">
          <a:xfrm rot="5400000" flipH="1" flipV="1">
            <a:off x="4257267" y="4805911"/>
            <a:ext cx="1765953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295269455" name="Diamond 57"/>
          <p:cNvSpPr/>
          <p:nvPr/>
        </p:nvSpPr>
        <p:spPr bwMode="auto">
          <a:xfrm>
            <a:off x="8368350" y="1584960"/>
            <a:ext cx="560818" cy="561975"/>
          </a:xfrm>
          <a:prstGeom prst="roundRect">
            <a:avLst/>
          </a:prstGeom>
          <a:solidFill>
            <a:schemeClr val="accent1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5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169393489" name="TextBox 60"/>
          <p:cNvSpPr txBox="1">
            <a:spLocks/>
          </p:cNvSpPr>
          <p:nvPr/>
        </p:nvSpPr>
        <p:spPr bwMode="auto">
          <a:xfrm>
            <a:off x="8404860" y="2212848"/>
            <a:ext cx="3063626" cy="32918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1600">
                <a:cs typeface="Arial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/>
              <a:buChar char=""/>
              <a:defRPr sz="1600">
                <a:cs typeface="Arial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—"/>
              <a:defRPr sz="1600">
                <a:cs typeface="Arial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»"/>
              <a:defRPr sz="1600">
                <a:cs typeface="Arial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/>
              <a:buChar char="›"/>
              <a:defRPr sz="1600">
                <a:cs typeface="Arial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/>
              <a:buChar char="​"/>
              <a:defRPr/>
            </a:pPr>
            <a:r>
              <a:rPr lang="en-US" sz="1000" b="1" i="0" u="none" strike="noStrike" cap="none" spc="0" dirty="0">
                <a:ln>
                  <a:noFill/>
                </a:ln>
                <a:solidFill>
                  <a:schemeClr val="accent1"/>
                </a:solidFill>
                <a:latin typeface="+mj-lt"/>
                <a:ea typeface="Arial"/>
                <a:cs typeface="Arial"/>
              </a:rPr>
              <a:t>Полный цифровой профиль клиента и оперативный кредитный мониторинг</a:t>
            </a:r>
            <a:endParaRPr dirty="0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1577308547" name="GreyLineSeparatorDefault 3092"/>
          <p:cNvCxnSpPr>
            <a:cxnSpLocks/>
          </p:cNvCxnSpPr>
          <p:nvPr/>
        </p:nvCxnSpPr>
        <p:spPr bwMode="auto">
          <a:xfrm>
            <a:off x="8404860" y="2615184"/>
            <a:ext cx="3063626" cy="0"/>
          </a:xfrm>
          <a:prstGeom prst="straightConnector1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miter lim="800000"/>
            <a:tailEnd type="none"/>
          </a:ln>
          <a:effectLst/>
        </p:spPr>
      </p:cxnSp>
      <p:sp>
        <p:nvSpPr>
          <p:cNvPr id="170" name="Sticker">
            <a:extLst>
              <a:ext uri="{FF2B5EF4-FFF2-40B4-BE49-F238E27FC236}">
                <a16:creationId xmlns:a16="http://schemas.microsoft.com/office/drawing/2014/main" id="{9B9FBAC7-38CE-4958-9AEE-939524266759}"/>
              </a:ext>
            </a:extLst>
          </p:cNvPr>
          <p:cNvSpPr txBox="1"/>
          <p:nvPr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en-US" sz="800" dirty="0"/>
              <a:t>Целевое видение</a:t>
            </a:r>
            <a:endParaRPr lang="ru-RU" sz="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821F7-8E41-40DE-AB7B-28B49F1CEDCF}"/>
              </a:ext>
            </a:extLst>
          </p:cNvPr>
          <p:cNvSpPr txBox="1"/>
          <p:nvPr/>
        </p:nvSpPr>
        <p:spPr>
          <a:xfrm>
            <a:off x="9025128" y="983828"/>
            <a:ext cx="2651760" cy="21544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de-CH" b="1" dirty="0" sz="1400">
                <a:latin typeface="+mj-lt"/>
              </a:rPr>
              <a:t>РЕЗУЛЬТАТ ПРОЦЕССА</a:t>
            </a:r>
          </a:p>
        </p:txBody>
      </p:sp>
      <p:sp>
        <p:nvSpPr>
          <p:cNvPr id="183" name="Diamond 57">
            <a:extLst>
              <a:ext uri="{FF2B5EF4-FFF2-40B4-BE49-F238E27FC236}">
                <a16:creationId xmlns:a16="http://schemas.microsoft.com/office/drawing/2014/main" id="{9CD90D84-6DA4-4399-A527-835E40A853DA}"/>
              </a:ext>
            </a:extLst>
          </p:cNvPr>
          <p:cNvSpPr/>
          <p:nvPr/>
        </p:nvSpPr>
        <p:spPr bwMode="auto">
          <a:xfrm>
            <a:off x="4812952" y="2179740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4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4" name="Diamond 57">
            <a:extLst>
              <a:ext uri="{FF2B5EF4-FFF2-40B4-BE49-F238E27FC236}">
                <a16:creationId xmlns:a16="http://schemas.microsoft.com/office/drawing/2014/main" id="{BBC75877-9B93-444A-B9E9-A54B7B697DA1}"/>
              </a:ext>
            </a:extLst>
          </p:cNvPr>
          <p:cNvSpPr/>
          <p:nvPr/>
        </p:nvSpPr>
        <p:spPr bwMode="auto">
          <a:xfrm>
            <a:off x="4812952" y="4395208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3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5" name="Diamond 57">
            <a:extLst>
              <a:ext uri="{FF2B5EF4-FFF2-40B4-BE49-F238E27FC236}">
                <a16:creationId xmlns:a16="http://schemas.microsoft.com/office/drawing/2014/main" id="{FF81C446-D7B2-491E-9424-AF6AE42EF119}"/>
              </a:ext>
            </a:extLst>
          </p:cNvPr>
          <p:cNvSpPr/>
          <p:nvPr/>
        </p:nvSpPr>
        <p:spPr bwMode="auto">
          <a:xfrm>
            <a:off x="421682" y="3979988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2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6" name="Diamond 57">
            <a:extLst>
              <a:ext uri="{FF2B5EF4-FFF2-40B4-BE49-F238E27FC236}">
                <a16:creationId xmlns:a16="http://schemas.microsoft.com/office/drawing/2014/main" id="{51F60698-AAD8-4CCF-8654-B7FFEAE42877}"/>
              </a:ext>
            </a:extLst>
          </p:cNvPr>
          <p:cNvSpPr/>
          <p:nvPr/>
        </p:nvSpPr>
        <p:spPr bwMode="auto">
          <a:xfrm>
            <a:off x="421682" y="1805940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1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8" name="Diamond 57">
            <a:extLst>
              <a:ext uri="{FF2B5EF4-FFF2-40B4-BE49-F238E27FC236}">
                <a16:creationId xmlns:a16="http://schemas.microsoft.com/office/drawing/2014/main" id="{61F7BC69-D14E-41BC-B812-B3987DB95160}"/>
              </a:ext>
            </a:extLst>
          </p:cNvPr>
          <p:cNvSpPr/>
          <p:nvPr/>
        </p:nvSpPr>
        <p:spPr bwMode="auto">
          <a:xfrm>
            <a:off x="8368350" y="810563"/>
            <a:ext cx="560818" cy="561975"/>
          </a:xfrm>
          <a:prstGeom prst="roundRect">
            <a:avLst/>
          </a:prstGeom>
          <a:solidFill>
            <a:schemeClr val="tx2"/>
          </a:solidFill>
          <a:ln w="12700" cap="flat">
            <a:solidFill>
              <a:schemeClr val="accent1"/>
            </a:solidFill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lang="en-US" sz="2400" b="1" i="0" u="none" strike="noStrike" cap="none" spc="0" dirty="0">
                <a:ln>
                  <a:noFill/>
                </a:ln>
                <a:solidFill>
                  <a:schemeClr val="accent1">
                    <a:alpha val="30000"/>
                  </a:schemeClr>
                </a:solidFill>
                <a:ea typeface="Arial"/>
                <a:cs typeface="Arial"/>
              </a:rPr>
              <a:t>→</a:t>
            </a:r>
          </a:p>
        </p:txBody>
      </p:sp>
      <p:pic>
        <p:nvPicPr>
          <p:cNvPr id="64149647" name="Рисунок 64149646">
            <a:extLst>
              <a:ext uri="{FF2B5EF4-FFF2-40B4-BE49-F238E27FC236}">
                <a16:creationId xmlns:a16="http://schemas.microsoft.com/office/drawing/2014/main" id="{37510C7A-7245-441C-925A-0D0D8F8D6F00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7005" y="1337837"/>
            <a:ext cx="1156929" cy="867697"/>
          </a:xfrm>
          <a:prstGeom prst="rect">
            <a:avLst/>
          </a:prstGeom>
        </p:spPr>
      </p:pic>
      <p:pic>
        <p:nvPicPr>
          <p:cNvPr id="64149649" name="Рисунок 64149648">
            <a:extLst>
              <a:ext uri="{FF2B5EF4-FFF2-40B4-BE49-F238E27FC236}">
                <a16:creationId xmlns:a16="http://schemas.microsoft.com/office/drawing/2014/main" id="{D672B049-64A8-4BC3-8BD5-A001AA6D46F1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6718" y="5162917"/>
            <a:ext cx="1123666" cy="842750"/>
          </a:xfrm>
          <a:prstGeom prst="rect">
            <a:avLst/>
          </a:prstGeom>
        </p:spPr>
      </p:pic>
      <p:pic>
        <p:nvPicPr>
          <p:cNvPr id="64149651" name="Рисунок 64149650">
            <a:extLst>
              <a:ext uri="{FF2B5EF4-FFF2-40B4-BE49-F238E27FC236}">
                <a16:creationId xmlns:a16="http://schemas.microsoft.com/office/drawing/2014/main" id="{2559240D-4642-415A-8B00-26FC540A7240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596" y="4686732"/>
            <a:ext cx="1155508" cy="866631"/>
          </a:xfrm>
          <a:prstGeom prst="rect">
            <a:avLst/>
          </a:prstGeom>
        </p:spPr>
      </p:pic>
      <p:pic>
        <p:nvPicPr>
          <p:cNvPr id="64149653" name="Рисунок 64149652">
            <a:extLst>
              <a:ext uri="{FF2B5EF4-FFF2-40B4-BE49-F238E27FC236}">
                <a16:creationId xmlns:a16="http://schemas.microsoft.com/office/drawing/2014/main" id="{DEB619D9-3BCB-477F-A148-1EBDB6E04A4C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3861" y="2880081"/>
            <a:ext cx="1100920" cy="825690"/>
          </a:xfrm>
          <a:prstGeom prst="rect">
            <a:avLst/>
          </a:prstGeom>
        </p:spPr>
      </p:pic>
      <p:pic>
        <p:nvPicPr>
          <p:cNvPr id="64149655" name="Рисунок 64149654">
            <a:extLst>
              <a:ext uri="{FF2B5EF4-FFF2-40B4-BE49-F238E27FC236}">
                <a16:creationId xmlns:a16="http://schemas.microsoft.com/office/drawing/2014/main" id="{DE214B78-CAD2-4AED-BACC-8DB093C902CB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637" y="2417820"/>
            <a:ext cx="1096781" cy="822586"/>
          </a:xfrm>
          <a:prstGeom prst="rect">
            <a:avLst/>
          </a:prstGeom>
        </p:spPr>
      </p:pic>
      <p:sp>
        <p:nvSpPr>
          <p:cNvPr id="2116954787" name="TextBox 2116954786"/>
          <p:cNvSpPr txBox="1"/>
          <p:nvPr/>
        </p:nvSpPr>
        <p:spPr>
          <a:xfrm>
            <a:off x="1289304" y="1865376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Кто и что заказывает</a:t>
            </a:r>
          </a:p>
        </p:txBody>
      </p:sp>
      <p:grpSp>
        <p:nvGrpSpPr>
          <p:cNvPr id="301402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1289304" y="2075688"/>
            <a:ext cx="338328" cy="338328"/>
            <a:chOff x="1290654" y="2031534"/>
            <a:chExt cx="342067" cy="342067"/>
          </a:xfrm>
        </p:grpSpPr>
        <p:sp>
          <p:nvSpPr>
            <p:cNvPr id="301403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04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05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6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7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8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9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0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1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2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3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4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5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6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88" name="TextBox 2116954787"/>
          <p:cNvSpPr txBox="1"/>
          <p:nvPr/>
        </p:nvSpPr>
        <p:spPr>
          <a:xfrm>
            <a:off x="1700784" y="20756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Бизнес: </a:t>
            </a:r>
            <a:r>
              <a:rPr sz="700" b="0">
                <a:solidFill>
                  <a:srgbClr val="000000"/>
                </a:solidFill>
              </a:rPr>
              <a:t>какие решения улучшить — не-клиенты, безусловные предодобы, лимиты; приводит партнёров с данными</a:t>
            </a:r>
          </a:p>
        </p:txBody>
      </p:sp>
      <p:grpSp>
        <p:nvGrpSpPr>
          <p:cNvPr id="301417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2075688"/>
            <a:ext cx="338328" cy="338328"/>
            <a:chOff x="1290654" y="2031534"/>
            <a:chExt cx="342067" cy="342067"/>
          </a:xfrm>
        </p:grpSpPr>
        <p:sp>
          <p:nvSpPr>
            <p:cNvPr id="301418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19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20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1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2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3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4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5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6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7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8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9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0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1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89" name="TextBox 2116954788"/>
          <p:cNvSpPr txBox="1"/>
          <p:nvPr/>
        </p:nvSpPr>
        <p:spPr>
          <a:xfrm>
            <a:off x="3364992" y="2075688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Риски: </a:t>
            </a:r>
            <a:r>
              <a:rPr sz="700" b="0">
                <a:solidFill>
                  <a:srgbClr val="000000"/>
                </a:solidFill>
              </a:rPr>
              <a:t>требования к данным — сегменты, глубина, свежесть; показывают, где модели «слепы»: отказы, ручная верификация</a:t>
            </a:r>
          </a:p>
        </p:txBody>
      </p:sp>
      <p:cxnSp>
        <p:nvCxnSpPr>
          <p:cNvPr id="301432" name="GreyLineSeparatorDefault 3092"/>
          <p:cNvCxnSpPr/>
          <p:nvPr/>
        </p:nvCxnSpPr>
        <p:spPr bwMode="auto">
          <a:xfrm>
            <a:off x="1289304" y="2907791"/>
            <a:ext cx="3364992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790" name="TextBox 2116954789"/>
          <p:cNvSpPr txBox="1"/>
          <p:nvPr/>
        </p:nvSpPr>
        <p:spPr>
          <a:xfrm>
            <a:off x="1289304" y="2980944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Единый бэклог источников</a:t>
            </a:r>
          </a:p>
        </p:txBody>
      </p:sp>
      <p:sp>
        <p:nvSpPr>
          <p:cNvPr id="2116954791" name="Oval 2116954790"/>
          <p:cNvSpPr/>
          <p:nvPr/>
        </p:nvSpPr>
        <p:spPr>
          <a:xfrm>
            <a:off x="1289304" y="3191256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792" name="Can 2116954791"/>
          <p:cNvSpPr/>
          <p:nvPr/>
        </p:nvSpPr>
        <p:spPr>
          <a:xfrm>
            <a:off x="1387419" y="3275837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793" name="TextBox 2116954792"/>
          <p:cNvSpPr txBox="1"/>
          <p:nvPr/>
        </p:nvSpPr>
        <p:spPr>
          <a:xfrm>
            <a:off x="1700784" y="31912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Платформа: </a:t>
            </a:r>
            <a:r>
              <a:rPr sz="700" b="0">
                <a:solidFill>
                  <a:srgbClr val="000000"/>
                </a:solidFill>
              </a:rPr>
              <a:t>карта данных — что уже подключено, каких полей не хватает</a:t>
            </a:r>
          </a:p>
        </p:txBody>
      </p:sp>
      <p:grpSp>
        <p:nvGrpSpPr>
          <p:cNvPr id="30143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3191256"/>
            <a:ext cx="338328" cy="338328"/>
            <a:chOff x="1290654" y="2031534"/>
            <a:chExt cx="342067" cy="342067"/>
          </a:xfrm>
        </p:grpSpPr>
        <p:sp>
          <p:nvSpPr>
            <p:cNvPr id="30143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3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3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4" name="TextBox 2116954793"/>
          <p:cNvSpPr txBox="1"/>
          <p:nvPr/>
        </p:nvSpPr>
        <p:spPr>
          <a:xfrm>
            <a:off x="3364992" y="3191256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собирает заказы бизнеса и рисков + сам ищет на рынке (ФНС, ОФД, ОКБ, 1С, маркетплейсы); приоритет по ценности и цене</a:t>
            </a:r>
          </a:p>
        </p:txBody>
      </p:sp>
      <p:sp>
        <p:nvSpPr>
          <p:cNvPr id="2116954795" name="TextBox 2116954794"/>
          <p:cNvSpPr txBox="1"/>
          <p:nvPr/>
        </p:nvSpPr>
        <p:spPr>
          <a:xfrm>
            <a:off x="1289304" y="4334256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Согласия во всех каналах</a:t>
            </a:r>
          </a:p>
        </p:txBody>
      </p:sp>
      <p:grpSp>
        <p:nvGrpSpPr>
          <p:cNvPr id="30144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1289304" y="4544568"/>
            <a:ext cx="338328" cy="338328"/>
            <a:chOff x="1290654" y="2031534"/>
            <a:chExt cx="342067" cy="342067"/>
          </a:xfrm>
        </p:grpSpPr>
        <p:sp>
          <p:nvSpPr>
            <p:cNvPr id="30144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5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5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6" name="TextBox 2116954795"/>
          <p:cNvSpPr txBox="1"/>
          <p:nvPr/>
        </p:nvSpPr>
        <p:spPr>
          <a:xfrm>
            <a:off x="1700784" y="45445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Риски: </a:t>
            </a:r>
            <a:r>
              <a:rPr sz="700" b="0">
                <a:solidFill>
                  <a:srgbClr val="000000"/>
                </a:solidFill>
              </a:rPr>
              <a:t>скорят по имеющимся данным без согласия там, где это законно</a:t>
            </a:r>
          </a:p>
        </p:txBody>
      </p:sp>
      <p:grpSp>
        <p:nvGrpSpPr>
          <p:cNvPr id="30146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4544568"/>
            <a:ext cx="338328" cy="338328"/>
            <a:chOff x="1290654" y="2031534"/>
            <a:chExt cx="342067" cy="342067"/>
          </a:xfrm>
        </p:grpSpPr>
        <p:sp>
          <p:nvSpPr>
            <p:cNvPr id="30146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6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6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7" name="TextBox 2116954796"/>
          <p:cNvSpPr txBox="1"/>
          <p:nvPr/>
        </p:nvSpPr>
        <p:spPr>
          <a:xfrm>
            <a:off x="3364992" y="4544568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Бизнес: </a:t>
            </a:r>
            <a:r>
              <a:rPr sz="700" b="0">
                <a:solidFill>
                  <a:srgbClr val="000000"/>
                </a:solidFill>
              </a:rPr>
              <a:t>встраивает сбор согласий в продукты и каналы — например, овердрафт-лимит каждому клиенту РКО; продление, бонус за согласие</a:t>
            </a:r>
          </a:p>
        </p:txBody>
      </p:sp>
      <p:cxnSp>
        <p:nvCxnSpPr>
          <p:cNvPr id="301478" name="GreyLineSeparatorDefault 3092"/>
          <p:cNvCxnSpPr/>
          <p:nvPr/>
        </p:nvCxnSpPr>
        <p:spPr bwMode="auto">
          <a:xfrm>
            <a:off x="1289304" y="5266944"/>
            <a:ext cx="3364992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798" name="TextBox 2116954797"/>
          <p:cNvSpPr txBox="1"/>
          <p:nvPr/>
        </p:nvSpPr>
        <p:spPr>
          <a:xfrm>
            <a:off x="1289304" y="5340096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Основание для каждого источника</a:t>
            </a:r>
          </a:p>
        </p:txBody>
      </p:sp>
      <p:sp>
        <p:nvSpPr>
          <p:cNvPr id="2116954799" name="Oval 2116954798"/>
          <p:cNvSpPr/>
          <p:nvPr/>
        </p:nvSpPr>
        <p:spPr>
          <a:xfrm>
            <a:off x="1289304" y="5550408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00" name="Can 2116954799"/>
          <p:cNvSpPr/>
          <p:nvPr/>
        </p:nvSpPr>
        <p:spPr>
          <a:xfrm>
            <a:off x="1387419" y="5634990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01" name="TextBox 2116954800"/>
          <p:cNvSpPr txBox="1"/>
          <p:nvPr/>
        </p:nvSpPr>
        <p:spPr>
          <a:xfrm>
            <a:off x="1700784" y="55504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Платформа: </a:t>
            </a:r>
            <a:r>
              <a:rPr sz="700" b="0">
                <a:solidFill>
                  <a:srgbClr val="000000"/>
                </a:solidFill>
              </a:rPr>
              <a:t>ведёт реестр согласий в профиле клиента</a:t>
            </a:r>
          </a:p>
        </p:txBody>
      </p:sp>
      <p:grpSp>
        <p:nvGrpSpPr>
          <p:cNvPr id="30147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5550408"/>
            <a:ext cx="338328" cy="338328"/>
            <a:chOff x="1290654" y="2031534"/>
            <a:chExt cx="342067" cy="342067"/>
          </a:xfrm>
        </p:grpSpPr>
        <p:sp>
          <p:nvSpPr>
            <p:cNvPr id="30148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8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8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2" name="TextBox 2116954801"/>
          <p:cNvSpPr txBox="1"/>
          <p:nvPr/>
        </p:nvSpPr>
        <p:spPr>
          <a:xfrm>
            <a:off x="3364992" y="5550408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с юристами закрепляет основание; нет данных — партнёр считает наш скоринг у себя</a:t>
            </a:r>
          </a:p>
        </p:txBody>
      </p:sp>
      <p:sp>
        <p:nvSpPr>
          <p:cNvPr id="2116954803" name="TextBox 2116954802"/>
          <p:cNvSpPr txBox="1"/>
          <p:nvPr/>
        </p:nvSpPr>
        <p:spPr>
          <a:xfrm>
            <a:off x="5532120" y="4754880"/>
            <a:ext cx="253288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Тест ≤ 4 недель → вердикт → бюджет</a:t>
            </a:r>
          </a:p>
        </p:txBody>
      </p:sp>
      <p:grpSp>
        <p:nvGrpSpPr>
          <p:cNvPr id="301494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5532120" y="4965192"/>
            <a:ext cx="338328" cy="338328"/>
            <a:chOff x="1290654" y="2031534"/>
            <a:chExt cx="342067" cy="342067"/>
          </a:xfrm>
        </p:grpSpPr>
        <p:sp>
          <p:nvSpPr>
            <p:cNvPr id="301495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96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97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8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9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0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1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2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3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4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5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6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7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8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4" name="TextBox 2116954803"/>
          <p:cNvSpPr txBox="1"/>
          <p:nvPr/>
        </p:nvSpPr>
        <p:spPr>
          <a:xfrm>
            <a:off x="5934456" y="4965192"/>
            <a:ext cx="850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тест на ретро-данных — покрытие, свежесть, качество, цена; бизнес-кейс</a:t>
            </a:r>
          </a:p>
        </p:txBody>
      </p:sp>
      <p:grpSp>
        <p:nvGrpSpPr>
          <p:cNvPr id="30150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4965192"/>
            <a:ext cx="338328" cy="338328"/>
            <a:chOff x="1290654" y="2031534"/>
            <a:chExt cx="342067" cy="342067"/>
          </a:xfrm>
        </p:grpSpPr>
        <p:sp>
          <p:nvSpPr>
            <p:cNvPr id="30151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1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1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5" name="TextBox 2116954804"/>
          <p:cNvSpPr txBox="1"/>
          <p:nvPr/>
        </p:nvSpPr>
        <p:spPr>
          <a:xfrm>
            <a:off x="7260336" y="4965192"/>
            <a:ext cx="8321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Риски и бизнес: </a:t>
            </a:r>
            <a:r>
              <a:rPr sz="700" b="0">
                <a:solidFill>
                  <a:srgbClr val="000000"/>
                </a:solidFill>
              </a:rPr>
              <a:t>польза шире Gini — правило, пилот; вердикт за 2 нед.; бизнес утверждает бюджет</a:t>
            </a:r>
          </a:p>
        </p:txBody>
      </p:sp>
      <p:sp>
        <p:nvSpPr>
          <p:cNvPr id="2116954806" name="TextBox 2116954805"/>
          <p:cNvSpPr txBox="1"/>
          <p:nvPr/>
        </p:nvSpPr>
        <p:spPr>
          <a:xfrm>
            <a:off x="5532120" y="2532888"/>
            <a:ext cx="253288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Договор и единый каталог</a:t>
            </a:r>
          </a:p>
        </p:txBody>
      </p:sp>
      <p:grpSp>
        <p:nvGrpSpPr>
          <p:cNvPr id="301524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5532120" y="2743200"/>
            <a:ext cx="338328" cy="338328"/>
            <a:chOff x="1290654" y="2031534"/>
            <a:chExt cx="342067" cy="342067"/>
          </a:xfrm>
        </p:grpSpPr>
        <p:sp>
          <p:nvSpPr>
            <p:cNvPr id="301525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26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27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8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9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0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1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2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3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4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5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6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7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8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7" name="TextBox 2116954806"/>
          <p:cNvSpPr txBox="1"/>
          <p:nvPr/>
        </p:nvSpPr>
        <p:spPr>
          <a:xfrm>
            <a:off x="5934456" y="274320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договор; каталог — поля, частота, SLA, цена, владелец</a:t>
            </a:r>
          </a:p>
        </p:txBody>
      </p:sp>
      <p:grpSp>
        <p:nvGrpSpPr>
          <p:cNvPr id="30153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2743200"/>
            <a:ext cx="338328" cy="338328"/>
            <a:chOff x="1290654" y="2031534"/>
            <a:chExt cx="342067" cy="342067"/>
          </a:xfrm>
        </p:grpSpPr>
        <p:sp>
          <p:nvSpPr>
            <p:cNvPr id="30154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4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4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8" name="TextBox 2116954807"/>
          <p:cNvSpPr txBox="1"/>
          <p:nvPr/>
        </p:nvSpPr>
        <p:spPr>
          <a:xfrm>
            <a:off x="7260336" y="2743200"/>
            <a:ext cx="8321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Риски: </a:t>
            </a:r>
            <a:r>
              <a:rPr sz="700" b="0">
                <a:solidFill>
                  <a:srgbClr val="000000"/>
                </a:solidFill>
              </a:rPr>
              <a:t>берут данные из каталога — без «хождения» по командам</a:t>
            </a:r>
          </a:p>
        </p:txBody>
      </p:sp>
      <p:cxnSp>
        <p:nvCxnSpPr>
          <p:cNvPr id="301554" name="GreyLineSeparatorDefault 3092"/>
          <p:cNvCxnSpPr/>
          <p:nvPr/>
        </p:nvCxnSpPr>
        <p:spPr bwMode="auto">
          <a:xfrm>
            <a:off x="5532120" y="3465576"/>
            <a:ext cx="2532888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09" name="TextBox 2116954808"/>
          <p:cNvSpPr txBox="1"/>
          <p:nvPr/>
        </p:nvSpPr>
        <p:spPr>
          <a:xfrm>
            <a:off x="5532120" y="3538728"/>
            <a:ext cx="253288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Интеграция ≤ 8 недель</a:t>
            </a:r>
          </a:p>
        </p:txBody>
      </p:sp>
      <p:sp>
        <p:nvSpPr>
          <p:cNvPr id="2116954810" name="Oval 2116954809"/>
          <p:cNvSpPr/>
          <p:nvPr/>
        </p:nvSpPr>
        <p:spPr>
          <a:xfrm>
            <a:off x="5532120" y="3749040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1" name="Can 2116954810"/>
          <p:cNvSpPr/>
          <p:nvPr/>
        </p:nvSpPr>
        <p:spPr>
          <a:xfrm>
            <a:off x="5630235" y="3833622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2" name="TextBox 2116954811"/>
          <p:cNvSpPr txBox="1"/>
          <p:nvPr/>
        </p:nvSpPr>
        <p:spPr>
          <a:xfrm>
            <a:off x="5934456" y="374904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Платформа: </a:t>
            </a:r>
            <a:r>
              <a:rPr sz="700" b="0">
                <a:solidFill>
                  <a:srgbClr val="000000"/>
                </a:solidFill>
              </a:rPr>
              <a:t>подключение по шаблону (API / батч), проверки качества</a:t>
            </a:r>
          </a:p>
        </p:txBody>
      </p:sp>
      <p:grpSp>
        <p:nvGrpSpPr>
          <p:cNvPr id="301555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3749040"/>
            <a:ext cx="338328" cy="338328"/>
            <a:chOff x="1290654" y="2031534"/>
            <a:chExt cx="342067" cy="342067"/>
          </a:xfrm>
        </p:grpSpPr>
        <p:sp>
          <p:nvSpPr>
            <p:cNvPr id="301556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57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58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9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0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1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2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3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4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5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6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7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8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9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13" name="TextBox 2116954812"/>
          <p:cNvSpPr txBox="1"/>
          <p:nvPr/>
        </p:nvSpPr>
        <p:spPr>
          <a:xfrm>
            <a:off x="7260336" y="3749040"/>
            <a:ext cx="8321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следит за источниками в проде — качество, польза</a:t>
            </a:r>
          </a:p>
        </p:txBody>
      </p:sp>
      <p:sp>
        <p:nvSpPr>
          <p:cNvPr id="2116954814" name="TextBox 2116954813"/>
          <p:cNvSpPr txBox="1"/>
          <p:nvPr/>
        </p:nvSpPr>
        <p:spPr>
          <a:xfrm>
            <a:off x="8403336" y="2706624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Профиль клиента и не-клиента</a:t>
            </a:r>
          </a:p>
        </p:txBody>
      </p:sp>
      <p:sp>
        <p:nvSpPr>
          <p:cNvPr id="2116954815" name="Oval 2116954814"/>
          <p:cNvSpPr/>
          <p:nvPr/>
        </p:nvSpPr>
        <p:spPr>
          <a:xfrm>
            <a:off x="8403336" y="2916936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6" name="Can 2116954815"/>
          <p:cNvSpPr/>
          <p:nvPr/>
        </p:nvSpPr>
        <p:spPr>
          <a:xfrm>
            <a:off x="8501451" y="3001518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7" name="TextBox 2116954816"/>
          <p:cNvSpPr txBox="1"/>
          <p:nvPr/>
        </p:nvSpPr>
        <p:spPr>
          <a:xfrm>
            <a:off x="8814816" y="2916936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Платформа: </a:t>
            </a:r>
            <a:r>
              <a:rPr sz="700" b="0">
                <a:solidFill>
                  <a:srgbClr val="000000"/>
                </a:solidFill>
              </a:rPr>
              <a:t>единый ID, все источники, актуальность каждого поля; реестр ФНС ежемесячно</a:t>
            </a:r>
          </a:p>
        </p:txBody>
      </p:sp>
      <p:grpSp>
        <p:nvGrpSpPr>
          <p:cNvPr id="301570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2916936"/>
            <a:ext cx="338328" cy="338328"/>
            <a:chOff x="1290654" y="2031534"/>
            <a:chExt cx="342067" cy="342067"/>
          </a:xfrm>
        </p:grpSpPr>
        <p:sp>
          <p:nvSpPr>
            <p:cNvPr id="301571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72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73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4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5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6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7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8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9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0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1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2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3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4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18" name="TextBox 2116954817"/>
          <p:cNvSpPr txBox="1"/>
          <p:nvPr/>
        </p:nvSpPr>
        <p:spPr>
          <a:xfrm>
            <a:off x="10341864" y="29169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отвечает за полноту — ищет «дыры» по сегментам и запускает источники</a:t>
            </a:r>
          </a:p>
        </p:txBody>
      </p:sp>
      <p:cxnSp>
        <p:nvCxnSpPr>
          <p:cNvPr id="301585" name="GreyLineSeparatorDefault 3092"/>
          <p:cNvCxnSpPr/>
          <p:nvPr/>
        </p:nvCxnSpPr>
        <p:spPr bwMode="auto">
          <a:xfrm>
            <a:off x="8403336" y="3529584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19" name="TextBox 2116954818"/>
          <p:cNvSpPr txBox="1"/>
          <p:nvPr/>
        </p:nvSpPr>
        <p:spPr>
          <a:xfrm>
            <a:off x="8403336" y="3602736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Скоринг и решение на одном профиле</a:t>
            </a:r>
          </a:p>
        </p:txBody>
      </p:sp>
      <p:grpSp>
        <p:nvGrpSpPr>
          <p:cNvPr id="301586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8403336" y="3813048"/>
            <a:ext cx="338328" cy="338328"/>
            <a:chOff x="1290654" y="2031534"/>
            <a:chExt cx="342067" cy="342067"/>
          </a:xfrm>
        </p:grpSpPr>
        <p:sp>
          <p:nvSpPr>
            <p:cNvPr id="301587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88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89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0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1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2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3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4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5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6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7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8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9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0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20" name="TextBox 2116954819"/>
          <p:cNvSpPr txBox="1"/>
          <p:nvPr/>
        </p:nvSpPr>
        <p:spPr>
          <a:xfrm>
            <a:off x="8814816" y="3813048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Риски: </a:t>
            </a:r>
            <a:r>
              <a:rPr sz="700" b="0">
                <a:solidFill>
                  <a:srgbClr val="000000"/>
                </a:solidFill>
              </a:rPr>
              <a:t>модели + стратегии; предодобы клиентам, скоринг не-клиентов</a:t>
            </a:r>
          </a:p>
        </p:txBody>
      </p:sp>
      <p:sp>
        <p:nvSpPr>
          <p:cNvPr id="2116954821" name="Oval 2116954820"/>
          <p:cNvSpPr/>
          <p:nvPr/>
        </p:nvSpPr>
        <p:spPr>
          <a:xfrm>
            <a:off x="9930384" y="3813048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2" name="Can 2116954821"/>
          <p:cNvSpPr/>
          <p:nvPr/>
        </p:nvSpPr>
        <p:spPr>
          <a:xfrm>
            <a:off x="10028499" y="3897630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3" name="TextBox 2116954822"/>
          <p:cNvSpPr txBox="1"/>
          <p:nvPr/>
        </p:nvSpPr>
        <p:spPr>
          <a:xfrm>
            <a:off x="10341864" y="381304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СПР: </a:t>
            </a:r>
            <a:r>
              <a:rPr sz="700" b="0">
                <a:solidFill>
                  <a:srgbClr val="000000"/>
                </a:solidFill>
              </a:rPr>
              <a:t>онлайн и оффлайн синхронизированы — обновления доезжают до офферов сразу</a:t>
            </a:r>
          </a:p>
        </p:txBody>
      </p:sp>
      <p:cxnSp>
        <p:nvCxnSpPr>
          <p:cNvPr id="301601" name="GreyLineSeparatorDefault 3092"/>
          <p:cNvCxnSpPr/>
          <p:nvPr/>
        </p:nvCxnSpPr>
        <p:spPr bwMode="auto">
          <a:xfrm>
            <a:off x="8403336" y="4425696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24" name="TextBox 2116954823"/>
          <p:cNvSpPr txBox="1"/>
          <p:nvPr/>
        </p:nvSpPr>
        <p:spPr>
          <a:xfrm>
            <a:off x="8403336" y="4498848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Оперативный кредитный мониторинг</a:t>
            </a:r>
          </a:p>
        </p:txBody>
      </p:sp>
      <p:sp>
        <p:nvSpPr>
          <p:cNvPr id="2116954825" name="Oval 2116954824"/>
          <p:cNvSpPr/>
          <p:nvPr/>
        </p:nvSpPr>
        <p:spPr>
          <a:xfrm>
            <a:off x="8403336" y="4709160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6" name="Can 2116954825"/>
          <p:cNvSpPr/>
          <p:nvPr/>
        </p:nvSpPr>
        <p:spPr>
          <a:xfrm>
            <a:off x="8501451" y="4793742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7" name="TextBox 2116954826"/>
          <p:cNvSpPr txBox="1"/>
          <p:nvPr/>
        </p:nvSpPr>
        <p:spPr>
          <a:xfrm>
            <a:off x="8814816" y="4709160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Платформа: </a:t>
            </a:r>
            <a:r>
              <a:rPr sz="700" b="0">
                <a:solidFill>
                  <a:srgbClr val="000000"/>
                </a:solidFill>
              </a:rPr>
              <a:t>следит за профилем онлайн — просрочка, ФНС, обороты → триггер в СПР</a:t>
            </a:r>
          </a:p>
        </p:txBody>
      </p:sp>
      <p:grpSp>
        <p:nvGrpSpPr>
          <p:cNvPr id="301602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4709160"/>
            <a:ext cx="338328" cy="338328"/>
            <a:chOff x="1290654" y="2031534"/>
            <a:chExt cx="342067" cy="342067"/>
          </a:xfrm>
        </p:grpSpPr>
        <p:sp>
          <p:nvSpPr>
            <p:cNvPr id="301603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04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05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6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7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8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9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0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1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2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3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4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5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6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28" name="TextBox 2116954827"/>
          <p:cNvSpPr txBox="1"/>
          <p:nvPr/>
        </p:nvSpPr>
        <p:spPr>
          <a:xfrm>
            <a:off x="10341864" y="470916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Риски: </a:t>
            </a:r>
            <a:r>
              <a:rPr sz="700" b="0">
                <a:solidFill>
                  <a:srgbClr val="000000"/>
                </a:solidFill>
              </a:rPr>
              <a:t>по триггерам меняют лимит, а не отказывают; критичные факторы — стоп</a:t>
            </a:r>
          </a:p>
        </p:txBody>
      </p:sp>
      <p:cxnSp>
        <p:nvCxnSpPr>
          <p:cNvPr id="301617" name="GreyLineSeparatorDefault 3092"/>
          <p:cNvCxnSpPr/>
          <p:nvPr/>
        </p:nvCxnSpPr>
        <p:spPr bwMode="auto">
          <a:xfrm>
            <a:off x="8403336" y="5321808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29" name="TextBox 2116954828"/>
          <p:cNvSpPr txBox="1"/>
          <p:nvPr/>
        </p:nvSpPr>
        <p:spPr>
          <a:xfrm>
            <a:off x="8403336" y="5394960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Обратная связь и экономика данных</a:t>
            </a:r>
          </a:p>
        </p:txBody>
      </p:sp>
      <p:grpSp>
        <p:nvGrpSpPr>
          <p:cNvPr id="30161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8403336" y="5605272"/>
            <a:ext cx="338328" cy="338328"/>
            <a:chOff x="1290654" y="2031534"/>
            <a:chExt cx="342067" cy="342067"/>
          </a:xfrm>
        </p:grpSpPr>
        <p:sp>
          <p:nvSpPr>
            <p:cNvPr id="30161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2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2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0" name="TextBox 2116954829"/>
          <p:cNvSpPr txBox="1"/>
          <p:nvPr/>
        </p:nvSpPr>
        <p:spPr>
          <a:xfrm>
            <a:off x="8814816" y="5605272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Единое окно: </a:t>
            </a:r>
            <a:r>
              <a:rPr sz="700" b="0">
                <a:solidFill>
                  <a:srgbClr val="000000"/>
                </a:solidFill>
              </a:rPr>
              <a:t>считает доход на источник; заказ там, где данных не хватило</a:t>
            </a:r>
          </a:p>
        </p:txBody>
      </p:sp>
      <p:grpSp>
        <p:nvGrpSpPr>
          <p:cNvPr id="30163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5605272"/>
            <a:ext cx="338328" cy="338328"/>
            <a:chOff x="1290654" y="2031534"/>
            <a:chExt cx="342067" cy="342067"/>
          </a:xfrm>
        </p:grpSpPr>
        <p:sp>
          <p:nvSpPr>
            <p:cNvPr id="30163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3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3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1" name="TextBox 2116954830"/>
          <p:cNvSpPr txBox="1"/>
          <p:nvPr/>
        </p:nvSpPr>
        <p:spPr>
          <a:xfrm>
            <a:off x="10341864" y="560527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1">
                <a:solidFill>
                  <a:srgbClr val="000000"/>
                </a:solidFill>
              </a:rPr>
              <a:t>Бизнес: </a:t>
            </a:r>
            <a:r>
              <a:rPr sz="700" b="0">
                <a:solidFill>
                  <a:srgbClr val="000000"/>
                </a:solidFill>
              </a:rPr>
              <a:t>действует по сигналу — продление лимита, кросс-продажа; цель — 80% не-клиентов отскорено</a:t>
            </a:r>
          </a:p>
        </p:txBody>
      </p:sp>
      <p:sp>
        <p:nvSpPr>
          <p:cNvPr id="2116954832" name="TextBox 2116954831"/>
          <p:cNvSpPr txBox="1"/>
          <p:nvPr/>
        </p:nvSpPr>
        <p:spPr>
          <a:xfrm>
            <a:off x="557784" y="104241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1">
                <a:solidFill>
                  <a:srgbClr val="000000"/>
                </a:solidFill>
              </a:rPr>
              <a:t>Роли:</a:t>
            </a:r>
          </a:p>
        </p:txBody>
      </p:sp>
      <p:grpSp>
        <p:nvGrpSpPr>
          <p:cNvPr id="30164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69264" y="1005840"/>
            <a:ext cx="219456" cy="219456"/>
            <a:chOff x="1290654" y="2031534"/>
            <a:chExt cx="342067" cy="342067"/>
          </a:xfrm>
        </p:grpSpPr>
        <p:sp>
          <p:nvSpPr>
            <p:cNvPr id="30164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5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5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3" name="TextBox 2116954832"/>
          <p:cNvSpPr txBox="1"/>
          <p:nvPr/>
        </p:nvSpPr>
        <p:spPr>
          <a:xfrm>
            <a:off x="1243584" y="1042416"/>
            <a:ext cx="161117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Бизнес / Риски и моделисты</a:t>
            </a:r>
          </a:p>
        </p:txBody>
      </p:sp>
      <p:grpSp>
        <p:nvGrpSpPr>
          <p:cNvPr id="30166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3055924" y="1005840"/>
            <a:ext cx="219456" cy="219456"/>
            <a:chOff x="1290654" y="2031534"/>
            <a:chExt cx="342067" cy="342067"/>
          </a:xfrm>
        </p:grpSpPr>
        <p:sp>
          <p:nvSpPr>
            <p:cNvPr id="30166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6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6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4" name="TextBox 2116954833"/>
          <p:cNvSpPr txBox="1"/>
          <p:nvPr/>
        </p:nvSpPr>
        <p:spPr>
          <a:xfrm>
            <a:off x="3330244" y="1042416"/>
            <a:ext cx="1781251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Единое окно — владелец данных</a:t>
            </a:r>
          </a:p>
        </p:txBody>
      </p:sp>
      <p:sp>
        <p:nvSpPr>
          <p:cNvPr id="2116954835" name="Oval 2116954834"/>
          <p:cNvSpPr/>
          <p:nvPr/>
        </p:nvSpPr>
        <p:spPr>
          <a:xfrm>
            <a:off x="5312664" y="1005840"/>
            <a:ext cx="219456" cy="219456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36" name="Can 2116954835"/>
          <p:cNvSpPr/>
          <p:nvPr/>
        </p:nvSpPr>
        <p:spPr>
          <a:xfrm>
            <a:off x="5376306" y="1060704"/>
            <a:ext cx="92171" cy="109728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37" name="TextBox 2116954836"/>
          <p:cNvSpPr txBox="1"/>
          <p:nvPr/>
        </p:nvSpPr>
        <p:spPr>
          <a:xfrm>
            <a:off x="5586984" y="1042416"/>
            <a:ext cx="1384401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Платформа данных и СПР</a:t>
            </a:r>
          </a:p>
        </p:txBody>
      </p:sp>
      <p:sp>
        <p:nvSpPr>
          <p:cNvPr id="2116954838" name="Rounded Rectangle 2116954837"/>
          <p:cNvSpPr/>
          <p:nvPr/>
        </p:nvSpPr>
        <p:spPr>
          <a:xfrm>
            <a:off x="5458968" y="5870448"/>
            <a:ext cx="2633472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750" b="1">
                <a:solidFill>
                  <a:srgbClr val="EF3124"/>
                </a:solidFill>
              </a:rPr>
              <a:t>Что нужно, чтобы конвейер заработал</a:t>
            </a:r>
          </a:p>
          <a:p>
            <a:pPr algn="l"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• Мандат единого окна: искать проактивно</a:t>
            </a:r>
          </a:p>
          <a:p>
            <a:pPr algn="l"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• Бюджет на данные — у бизнеса-заказчика</a:t>
            </a:r>
          </a:p>
          <a:p>
            <a:pPr algn="l"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• Платформа: каталог, единый профиль, СПР</a:t>
            </a:r>
          </a:p>
          <a:p>
            <a:pPr algn="l"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• SLA: тест ≤ 4 нед., подключение ≤ 8 нед.</a:t>
            </a:r>
          </a:p>
        </p:txBody>
      </p:sp>
      <p:sp>
        <p:nvSpPr>
          <p:cNvPr id="2116954839" name="TextBox 2116954838"/>
          <p:cNvSpPr txBox="1"/>
          <p:nvPr/>
        </p:nvSpPr>
        <p:spPr>
          <a:xfrm>
            <a:off x="2286000" y="6528816"/>
            <a:ext cx="8778240" cy="1280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00" b="0">
                <a:solidFill>
                  <a:srgbClr val="505759"/>
                </a:solidFill>
              </a:rPr>
              <a:t>Источник: интервью с блоком рисков (01.09.2026); анализ проектной команды. Сроки (SLA) и KPI — предложение для согласования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CTFIXED" val="Yes"/>
  <p:tag name="TSCLIENT" val="True"/>
  <p:tag name="THINKCELLPRESENTATIONDONOTDELETE" val="&lt;?xml version=&quot;1.0&quot; encoding=&quot;UTF-16&quot; standalone=&quot;yes&quot;?&gt;&lt;root reqver=&quot;27037&quot;&gt;&lt;version val=&quot;3292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Day&gt;&lt;m_bNumberIsYear val=&quot;0&quot;/&gt;&lt;m_strFormatTime&gt;%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3&quot;&gt;&lt;elem m_fUsage=&quot;1.00000000000000000000E+00&quot;&gt;&lt;m_msothmcolidx val=&quot;0&quot;/&gt;&lt;m_rgb r=&quot;20&quot; g=&quot;4F&quot; b=&quot;EE&quot;/&gt;&lt;/elem&gt;&lt;elem m_fUsage=&quot;9.00000000000000022204E-01&quot;&gt;&lt;m_msothmcolidx val=&quot;0&quot;/&gt;&lt;m_rgb r=&quot;00&quot; g=&quot;DA&quot; b=&quot;C5&quot;/&gt;&lt;/elem&gt;&lt;elem m_fUsage=&quot;8.10000000000000053291E-01&quot;&gt;&lt;m_msothmcolidx val=&quot;0&quot;/&gt;&lt;m_rgb r=&quot;31&quot; g=&quot;5A&quot; b=&quot;C8&quot;/&gt;&lt;/elem&gt;&lt;/m_vecMRU&gt;&lt;/m_mruColor&gt;&lt;m_eweekdayFirstOfWeek val=&quot;2&quot;/&gt;&lt;m_eweekdayFirstOfWorkweek val=&quot;2&quot;/&gt;&lt;m_eweekdayFirstOfWeekend val=&quot;7&quot;/&gt;&lt;/CPresentation&gt;&lt;/root&gt;"/>
  <p:tag name="TEMPLATELASTEDITED" val="2024-01-17 05:59 "/>
  <p:tag name="ICONFILLBACKGROUND" val="Color [A=255, R=239, G=49, B=36]"/>
  <p:tag name="ICONFILLBACKGROUNDTHEME" val="Accent 1"/>
  <p:tag name="ICONENCLOSURE" val="False"/>
  <p:tag name="THINKCELLUNDODONOTDELETE" val="0"/>
  <p:tag name="ICONLINEFILL" val="Color [A=255, R=255, G=255, B=255]"/>
  <p:tag name="ICONLINEFILLTHEME" val="Background 1"/>
  <p:tag name="MTBTACCENT" val="Accent1ColorBoldText"/>
  <p:tag name="BULLETPOINTACTIVEGAP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heme/theme1.xml><?xml version="1.0" encoding="utf-8"?>
<a:theme xmlns:a="http://schemas.openxmlformats.org/drawingml/2006/main" name="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2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Альфа_16x9 (2024)</Template>
  <TotalTime>79951</TotalTime>
  <Words>460</Words>
  <Application>Microsoft Office PowerPoint</Application>
  <PresentationFormat>Widescreen</PresentationFormat>
  <Paragraphs>50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Georgia</vt:lpstr>
      <vt:lpstr>Segoe UI</vt:lpstr>
      <vt:lpstr>Verdana</vt:lpstr>
      <vt:lpstr>Wingdings</vt:lpstr>
      <vt:lpstr>Альфа_16x9 (2024)</vt:lpstr>
      <vt:lpstr>think-cell Slide</vt:lpstr>
      <vt:lpstr>Envisioning a fully AI and GenAI enabled  lending journey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Samoylenko, Vladislav</dc:creator>
  <cp:keywords/>
  <dc:description/>
  <cp:lastModifiedBy>Alexander Voytsev</cp:lastModifiedBy>
  <cp:revision>2991</cp:revision>
  <cp:lastPrinted>2024-10-23T08:54:01Z</cp:lastPrinted>
  <dcterms:created xsi:type="dcterms:W3CDTF">2024-01-18T08:29:10Z</dcterms:created>
  <dcterms:modified xsi:type="dcterms:W3CDTF">2026-09-02T12:36:44Z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2024-01-17 05:59 </vt:lpwstr>
  </property>
  <property fmtid="{D5CDD505-2E9C-101B-9397-08002B2CF9AE}" pid="8" name="TemplateCreated">
    <vt:lpwstr>2019-02-27 01:18 PM</vt:lpwstr>
  </property>
</Properties>
</file>